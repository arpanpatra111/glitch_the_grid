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72" r:id="rId4"/>
    <p:sldId id="273" r:id="rId5"/>
    <p:sldId id="274" r:id="rId6"/>
    <p:sldId id="275" r:id="rId7"/>
    <p:sldId id="276" r:id="rId8"/>
    <p:sldId id="277" r:id="rId9"/>
    <p:sldId id="278" r:id="rId10"/>
    <p:sldId id="281" r:id="rId11"/>
    <p:sldId id="279" r:id="rId12"/>
    <p:sldId id="280" r:id="rId13"/>
    <p:sldId id="282" r:id="rId14"/>
  </p:sldIdLst>
  <p:sldSz cx="18288000" cy="10287000"/>
  <p:notesSz cx="6858000" cy="9144000"/>
  <p:embeddedFontLst>
    <p:embeddedFont>
      <p:font typeface="Lucida Console" panose="020B0609040504020204" pitchFamily="49" charset="0"/>
      <p:regular r:id="rId16"/>
    </p:embeddedFont>
    <p:embeddedFont>
      <p:font typeface="Roboto" panose="02000000000000000000" pitchFamily="2"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4" roundtripDataSignature="AMtx7mit6ucAsVTHfKifUCX3uFC2v+Xk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52" d="100"/>
          <a:sy n="52" d="100"/>
        </p:scale>
        <p:origin x="629"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E127892-DABB-57F0-49F9-64DB21A56CD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1FDFD597-C992-DB99-F917-190A113CD2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06090A55-D8DB-D946-606C-C0E59A76C1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2715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A0B4FED-5E18-E47A-FF3E-0AE7437D0C6E}"/>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5AEABF9-CB91-ECA2-E59B-875E909DE0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974462A-DE9B-58DC-FE16-DD7180343E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5726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A5FA85E-23CF-98AC-7B8C-D8383031DF41}"/>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77217F8-8961-9958-EE60-E2744533D0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692B102-8C5B-F401-6DFE-FF0A89055D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7276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03EDEA4-F5AB-ADA7-75C2-EE20E3EAFDE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387D43C-9C8E-375B-5BB2-4223748043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a:extLst>
              <a:ext uri="{FF2B5EF4-FFF2-40B4-BE49-F238E27FC236}">
                <a16:creationId xmlns:a16="http://schemas.microsoft.com/office/drawing/2014/main" id="{027EC80A-0123-3FC6-6B62-008DED1DC8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1340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A94F635-9AB0-4240-2FDB-96D9DBB211C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364729D2-B8F1-5714-1FB9-4E47EA2E0A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A6B0A23F-C0E9-AF68-BF1C-8D33A94F42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4014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9C6B686-0D76-4D8A-4872-7714A68FC5A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2122024-2A2F-A827-6EAE-529B9563FC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F85ABFDB-A3C4-7522-75D2-69E1B9323F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00865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862066C-AAF9-33BA-4691-0E9CD557DAA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01149B7-2E25-602C-B7E7-2C05250A9A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749FEF7A-E8E2-6B75-59D9-6AD4ECA9AD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018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0130E2C3-C2C1-F596-297E-7C717D3E5310}"/>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C98AA8EB-4DBE-AA85-1D46-FF60219D3B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4" name="Google Shape;94;p2:notes">
            <a:extLst>
              <a:ext uri="{FF2B5EF4-FFF2-40B4-BE49-F238E27FC236}">
                <a16:creationId xmlns:a16="http://schemas.microsoft.com/office/drawing/2014/main" id="{15A6E128-495C-728B-0C00-CC5A3E78A9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3709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6D422AB1-7FA3-7725-EA84-AEAD504495D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A9BFD03-1CA0-19A3-EC2B-D0F6A522AE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D0F89E2-8066-6D46-FABB-32CF9ECFD51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26696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DCBA4BE-E9E4-0032-B1B0-CEC957FC531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AEA1CC3C-E983-2741-3F26-818801CEFE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C8EDC515-D569-E83E-424A-5FE0A88A9C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53880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28C03BB-DAF1-32CB-041A-080A2B031C4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078C1C3-75D6-0856-D27B-6ABF1526F3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2F063B23-2253-049C-E7DF-60913A96C5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57360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8" Type="http://schemas.openxmlformats.org/officeDocument/2006/relationships/hyperlink" Target="https://www.freecodecamp.org/news/create-full-stack-app-with-nextjs13-and-firebase/?referrer=grok.com" TargetMode="External"/><Relationship Id="rId13" Type="http://schemas.openxmlformats.org/officeDocument/2006/relationships/hyperlink" Target="https://avionmission.com/blog/gemini-nextjs-generative-ui-tutorial/?referrer=grok.com" TargetMode="External"/><Relationship Id="rId3" Type="http://schemas.openxmlformats.org/officeDocument/2006/relationships/image" Target="../media/image5.jpg"/><Relationship Id="rId7" Type="http://schemas.openxmlformats.org/officeDocument/2006/relationships/hyperlink" Target="https://ai.google.dev/gemini-api/docs" TargetMode="External"/><Relationship Id="rId12" Type="http://schemas.openxmlformats.org/officeDocument/2006/relationships/hyperlink" Target="https://avionmission.com/blog/gemini-api-tutorial/?referrer=grok.com" TargetMode="External"/><Relationship Id="rId17" Type="http://schemas.openxmlformats.org/officeDocument/2006/relationships/hyperlink" Target="https://github.com/Ayush-Kanduri/Placement-Cell-Application?referrer=grok.com" TargetMode="External"/><Relationship Id="rId2" Type="http://schemas.openxmlformats.org/officeDocument/2006/relationships/notesSlide" Target="../notesSlides/notesSlide13.xml"/><Relationship Id="rId16" Type="http://schemas.openxmlformats.org/officeDocument/2006/relationships/hyperlink" Target="https://github.com/Sahil-Sayyad/Placement_Portal?referrer=grok.com" TargetMode="External"/><Relationship Id="rId1" Type="http://schemas.openxmlformats.org/officeDocument/2006/relationships/slideLayout" Target="../slideLayouts/slideLayout1.xml"/><Relationship Id="rId6" Type="http://schemas.openxmlformats.org/officeDocument/2006/relationships/hyperlink" Target="https://firebase.google.com/docs?referrer=grok.com" TargetMode="External"/><Relationship Id="rId11" Type="http://schemas.openxmlformats.org/officeDocument/2006/relationships/hyperlink" Target="https://dev.to/shubhamtiwari909/gemini-ai-next-js-15-tailwind-1247?referrer=grok.com" TargetMode="External"/><Relationship Id="rId5" Type="http://schemas.openxmlformats.org/officeDocument/2006/relationships/hyperlink" Target="https://nextjs.org/blog/next-16?referrer=grok.com" TargetMode="External"/><Relationship Id="rId15" Type="http://schemas.openxmlformats.org/officeDocument/2006/relationships/hyperlink" Target="https://github.com/milliorn/nextjs-firebase-starter?referrer=grok.com" TargetMode="External"/><Relationship Id="rId10" Type="http://schemas.openxmlformats.org/officeDocument/2006/relationships/hyperlink" Target="https://firebase.google.com/codelabs/firebase-nextjs" TargetMode="External"/><Relationship Id="rId4" Type="http://schemas.openxmlformats.org/officeDocument/2006/relationships/hyperlink" Target="https://nextjs.org/docs" TargetMode="External"/><Relationship Id="rId9" Type="http://schemas.openxmlformats.org/officeDocument/2006/relationships/hyperlink" Target="https://blog.logrocket.com/nextjs-cloud-firestore-full-stack-app-tutorial/?referrer=grok.com" TargetMode="External"/><Relationship Id="rId14" Type="http://schemas.openxmlformats.org/officeDocument/2006/relationships/hyperlink" Target="https://fireship.io/courses/react-next-firebase/?referrer=grok.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169474" y="0"/>
            <a:ext cx="7692000" cy="10287000"/>
          </a:xfrm>
          <a:prstGeom prst="rect">
            <a:avLst/>
          </a:prstGeom>
          <a:solidFill>
            <a:srgbClr val="4285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
          <p:cNvSpPr/>
          <p:nvPr/>
        </p:nvSpPr>
        <p:spPr>
          <a:xfrm>
            <a:off x="149088" y="3159516"/>
            <a:ext cx="7054850" cy="3967959"/>
          </a:xfrm>
          <a:custGeom>
            <a:avLst/>
            <a:gdLst/>
            <a:ahLst/>
            <a:cxnLst/>
            <a:rect l="l" t="t" r="r" b="b"/>
            <a:pathLst>
              <a:path w="11287760" h="6348735" extrusionOk="0">
                <a:moveTo>
                  <a:pt x="0" y="5824220"/>
                </a:moveTo>
                <a:lnTo>
                  <a:pt x="0" y="525780"/>
                </a:lnTo>
                <a:cubicBezTo>
                  <a:pt x="0" y="234950"/>
                  <a:pt x="234950" y="0"/>
                  <a:pt x="525780" y="0"/>
                </a:cubicBezTo>
                <a:lnTo>
                  <a:pt x="10761980" y="0"/>
                </a:lnTo>
                <a:cubicBezTo>
                  <a:pt x="11052810" y="0"/>
                  <a:pt x="11287760" y="234950"/>
                  <a:pt x="11287760" y="525780"/>
                </a:cubicBezTo>
                <a:lnTo>
                  <a:pt x="11287760" y="5822950"/>
                </a:lnTo>
                <a:cubicBezTo>
                  <a:pt x="11287760" y="6113780"/>
                  <a:pt x="11052810" y="6348730"/>
                  <a:pt x="10761980" y="6348730"/>
                </a:cubicBezTo>
                <a:lnTo>
                  <a:pt x="525780" y="6348730"/>
                </a:lnTo>
                <a:cubicBezTo>
                  <a:pt x="236220" y="6350000"/>
                  <a:pt x="0" y="6115050"/>
                  <a:pt x="0" y="5824220"/>
                </a:cubicBezTo>
                <a:close/>
              </a:path>
            </a:pathLst>
          </a:custGeom>
          <a:blipFill rotWithShape="1">
            <a:blip r:embed="rId3">
              <a:alphaModFix/>
            </a:blip>
            <a:stretch>
              <a:fillRect l="-441" r="-441"/>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
          <p:cNvSpPr/>
          <p:nvPr/>
        </p:nvSpPr>
        <p:spPr>
          <a:xfrm>
            <a:off x="-363850" y="-165275"/>
            <a:ext cx="7500071" cy="1831498"/>
          </a:xfrm>
          <a:custGeom>
            <a:avLst/>
            <a:gdLst/>
            <a:ahLst/>
            <a:cxnLst/>
            <a:rect l="l" t="t" r="r" b="b"/>
            <a:pathLst>
              <a:path w="5545339" h="1831498" extrusionOk="0">
                <a:moveTo>
                  <a:pt x="0" y="0"/>
                </a:moveTo>
                <a:lnTo>
                  <a:pt x="5545339" y="0"/>
                </a:lnTo>
                <a:lnTo>
                  <a:pt x="5545339" y="1831498"/>
                </a:lnTo>
                <a:lnTo>
                  <a:pt x="0" y="1831498"/>
                </a:lnTo>
                <a:lnTo>
                  <a:pt x="0" y="0"/>
                </a:lnTo>
                <a:close/>
              </a:path>
            </a:pathLst>
          </a:custGeom>
          <a:blipFill rotWithShape="1">
            <a:blip r:embed="rId4">
              <a:alphaModFix/>
            </a:blip>
            <a:stretch>
              <a:fillRect l="-31915" t="-57099"/>
            </a:stretch>
          </a:blipFill>
          <a:ln>
            <a:noFill/>
          </a:ln>
        </p:spPr>
      </p:sp>
      <p:sp>
        <p:nvSpPr>
          <p:cNvPr id="87" name="Google Shape;87;p1"/>
          <p:cNvSpPr/>
          <p:nvPr/>
        </p:nvSpPr>
        <p:spPr>
          <a:xfrm>
            <a:off x="14711831" y="266635"/>
            <a:ext cx="2847119" cy="1316909"/>
          </a:xfrm>
          <a:custGeom>
            <a:avLst/>
            <a:gdLst/>
            <a:ahLst/>
            <a:cxnLst/>
            <a:rect l="l" t="t" r="r" b="b"/>
            <a:pathLst>
              <a:path w="2847119" h="1316909" extrusionOk="0">
                <a:moveTo>
                  <a:pt x="0" y="0"/>
                </a:moveTo>
                <a:lnTo>
                  <a:pt x="2847119" y="0"/>
                </a:lnTo>
                <a:lnTo>
                  <a:pt x="2847119" y="1316909"/>
                </a:lnTo>
                <a:lnTo>
                  <a:pt x="0" y="1316909"/>
                </a:lnTo>
                <a:lnTo>
                  <a:pt x="0" y="0"/>
                </a:lnTo>
                <a:close/>
              </a:path>
            </a:pathLst>
          </a:custGeom>
          <a:blipFill rotWithShape="1">
            <a:blip r:embed="rId5">
              <a:alphaModFix/>
            </a:blip>
            <a:stretch>
              <a:fillRect/>
            </a:stretch>
          </a:blipFill>
          <a:ln>
            <a:noFill/>
          </a:ln>
        </p:spPr>
      </p:sp>
      <p:sp>
        <p:nvSpPr>
          <p:cNvPr id="88" name="Google Shape;88;p1"/>
          <p:cNvSpPr/>
          <p:nvPr/>
        </p:nvSpPr>
        <p:spPr>
          <a:xfrm>
            <a:off x="8079707" y="31043"/>
            <a:ext cx="2702322" cy="2059169"/>
          </a:xfrm>
          <a:custGeom>
            <a:avLst/>
            <a:gdLst/>
            <a:ahLst/>
            <a:cxnLst/>
            <a:rect l="l" t="t" r="r" b="b"/>
            <a:pathLst>
              <a:path w="2702322" h="2059169" extrusionOk="0">
                <a:moveTo>
                  <a:pt x="0" y="0"/>
                </a:moveTo>
                <a:lnTo>
                  <a:pt x="2702322" y="0"/>
                </a:lnTo>
                <a:lnTo>
                  <a:pt x="2702322" y="2059169"/>
                </a:lnTo>
                <a:lnTo>
                  <a:pt x="0" y="2059169"/>
                </a:lnTo>
                <a:lnTo>
                  <a:pt x="0" y="0"/>
                </a:lnTo>
                <a:close/>
              </a:path>
            </a:pathLst>
          </a:custGeom>
          <a:blipFill rotWithShape="1">
            <a:blip r:embed="rId6">
              <a:alphaModFix/>
            </a:blip>
            <a:stretch>
              <a:fillRect/>
            </a:stretch>
          </a:blipFill>
          <a:ln>
            <a:noFill/>
          </a:ln>
        </p:spPr>
      </p:sp>
      <p:sp>
        <p:nvSpPr>
          <p:cNvPr id="89" name="Google Shape;89;p1"/>
          <p:cNvSpPr/>
          <p:nvPr/>
        </p:nvSpPr>
        <p:spPr>
          <a:xfrm>
            <a:off x="165921" y="266635"/>
            <a:ext cx="4959901" cy="830799"/>
          </a:xfrm>
          <a:custGeom>
            <a:avLst/>
            <a:gdLst/>
            <a:ahLst/>
            <a:cxnLst/>
            <a:rect l="l" t="t" r="r" b="b"/>
            <a:pathLst>
              <a:path w="4959901" h="830799" extrusionOk="0">
                <a:moveTo>
                  <a:pt x="0" y="0"/>
                </a:moveTo>
                <a:lnTo>
                  <a:pt x="4959902" y="0"/>
                </a:lnTo>
                <a:lnTo>
                  <a:pt x="4959902" y="830799"/>
                </a:lnTo>
                <a:lnTo>
                  <a:pt x="0" y="830799"/>
                </a:lnTo>
                <a:lnTo>
                  <a:pt x="0" y="0"/>
                </a:lnTo>
                <a:close/>
              </a:path>
            </a:pathLst>
          </a:custGeom>
          <a:blipFill rotWithShape="1">
            <a:blip r:embed="rId7">
              <a:alphaModFix/>
            </a:blip>
            <a:stretch>
              <a:fillRect r="-4160" b="-26313"/>
            </a:stretch>
          </a:blipFill>
          <a:ln>
            <a:noFill/>
          </a:ln>
        </p:spPr>
      </p:sp>
      <p:sp>
        <p:nvSpPr>
          <p:cNvPr id="90" name="Google Shape;90;p1"/>
          <p:cNvSpPr txBox="1"/>
          <p:nvPr/>
        </p:nvSpPr>
        <p:spPr>
          <a:xfrm>
            <a:off x="9144000" y="5228799"/>
            <a:ext cx="8415000" cy="3403500"/>
          </a:xfrm>
          <a:prstGeom prst="rect">
            <a:avLst/>
          </a:prstGeom>
          <a:noFill/>
          <a:ln>
            <a:noFill/>
          </a:ln>
        </p:spPr>
        <p:txBody>
          <a:bodyPr spcFirstLastPara="1" wrap="square" lIns="0" tIns="0" rIns="0" bIns="0" anchor="t" anchorCtr="0">
            <a:spAutoFit/>
          </a:bodyPr>
          <a:lstStyle/>
          <a:p>
            <a:pPr marL="0" marR="0" lvl="0" indent="0" algn="l" rtl="0">
              <a:lnSpc>
                <a:spcPct val="197000"/>
              </a:lnSpc>
              <a:spcBef>
                <a:spcPts val="0"/>
              </a:spcBef>
              <a:spcAft>
                <a:spcPts val="0"/>
              </a:spcAft>
              <a:buNone/>
            </a:pPr>
            <a:r>
              <a:rPr lang="en-US" sz="3200" b="1" i="0" u="none" strike="noStrike" cap="none" dirty="0">
                <a:solidFill>
                  <a:srgbClr val="4285F3"/>
                </a:solidFill>
                <a:latin typeface="Roboto"/>
                <a:ea typeface="Roboto"/>
                <a:cs typeface="Roboto"/>
                <a:sym typeface="Roboto"/>
              </a:rPr>
              <a:t>Theme: __________________________________</a:t>
            </a:r>
            <a:endParaRPr dirty="0"/>
          </a:p>
          <a:p>
            <a:pPr marL="0" marR="0" lvl="0" indent="0" algn="l" rtl="0">
              <a:lnSpc>
                <a:spcPct val="197000"/>
              </a:lnSpc>
              <a:spcBef>
                <a:spcPts val="0"/>
              </a:spcBef>
              <a:spcAft>
                <a:spcPts val="0"/>
              </a:spcAft>
              <a:buNone/>
            </a:pPr>
            <a:r>
              <a:rPr lang="en-US" sz="3200" b="1" i="0" u="none" strike="noStrike" cap="none" dirty="0">
                <a:solidFill>
                  <a:srgbClr val="4285F3"/>
                </a:solidFill>
                <a:latin typeface="Roboto"/>
                <a:ea typeface="Roboto"/>
                <a:cs typeface="Roboto"/>
                <a:sym typeface="Roboto"/>
              </a:rPr>
              <a:t>Problem Statement Title: __________________</a:t>
            </a:r>
            <a:endParaRPr dirty="0"/>
          </a:p>
          <a:p>
            <a:pPr marL="0" marR="0" lvl="0" indent="0" algn="l" rtl="0">
              <a:lnSpc>
                <a:spcPct val="197000"/>
              </a:lnSpc>
              <a:spcBef>
                <a:spcPts val="0"/>
              </a:spcBef>
              <a:spcAft>
                <a:spcPts val="0"/>
              </a:spcAft>
              <a:buNone/>
            </a:pPr>
            <a:r>
              <a:rPr lang="en-US" sz="3200" b="1" i="0" u="none" strike="noStrike" cap="none" dirty="0">
                <a:solidFill>
                  <a:srgbClr val="4285F3"/>
                </a:solidFill>
                <a:latin typeface="Roboto"/>
                <a:ea typeface="Roboto"/>
                <a:cs typeface="Roboto"/>
                <a:sym typeface="Roboto"/>
              </a:rPr>
              <a:t>Team Name: _______________________________</a:t>
            </a:r>
            <a:endParaRPr dirty="0"/>
          </a:p>
          <a:p>
            <a:pPr marL="0" marR="0" lvl="0" indent="0" algn="l" rtl="0">
              <a:lnSpc>
                <a:spcPct val="197000"/>
              </a:lnSpc>
              <a:spcBef>
                <a:spcPts val="0"/>
              </a:spcBef>
              <a:spcAft>
                <a:spcPts val="0"/>
              </a:spcAft>
              <a:buNone/>
            </a:pPr>
            <a:r>
              <a:rPr lang="en-US" sz="3200" b="1" i="0" u="none" strike="noStrike" cap="none" dirty="0">
                <a:solidFill>
                  <a:srgbClr val="4285F3"/>
                </a:solidFill>
                <a:latin typeface="Roboto"/>
                <a:ea typeface="Roboto"/>
                <a:cs typeface="Roboto"/>
                <a:sym typeface="Roboto"/>
              </a:rPr>
              <a:t>Team Members: _____________________________</a:t>
            </a:r>
            <a:endParaRPr dirty="0"/>
          </a:p>
        </p:txBody>
      </p:sp>
      <p:sp>
        <p:nvSpPr>
          <p:cNvPr id="91" name="Google Shape;91;p1"/>
          <p:cNvSpPr txBox="1"/>
          <p:nvPr/>
        </p:nvSpPr>
        <p:spPr>
          <a:xfrm>
            <a:off x="9602037" y="2420146"/>
            <a:ext cx="7498800" cy="22110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5985" b="1" i="0" u="none" strike="noStrike" cap="none" dirty="0">
                <a:solidFill>
                  <a:srgbClr val="282933"/>
                </a:solidFill>
              </a:rPr>
              <a:t>GLITCH THE GRID  2025</a:t>
            </a:r>
            <a:endParaRPr b="1" dirty="0"/>
          </a:p>
        </p:txBody>
      </p:sp>
      <p:sp>
        <p:nvSpPr>
          <p:cNvPr id="2" name="TextBox 1">
            <a:extLst>
              <a:ext uri="{FF2B5EF4-FFF2-40B4-BE49-F238E27FC236}">
                <a16:creationId xmlns:a16="http://schemas.microsoft.com/office/drawing/2014/main" id="{72F1040A-A254-8023-014D-21879B34F137}"/>
              </a:ext>
            </a:extLst>
          </p:cNvPr>
          <p:cNvSpPr txBox="1"/>
          <p:nvPr/>
        </p:nvSpPr>
        <p:spPr>
          <a:xfrm>
            <a:off x="10782029" y="5363467"/>
            <a:ext cx="6119623" cy="584775"/>
          </a:xfrm>
          <a:prstGeom prst="rect">
            <a:avLst/>
          </a:prstGeom>
          <a:noFill/>
        </p:spPr>
        <p:txBody>
          <a:bodyPr wrap="square" rtlCol="0">
            <a:spAutoFit/>
          </a:bodyPr>
          <a:lstStyle/>
          <a:p>
            <a:r>
              <a:rPr lang="en-US" sz="3200" i="1" dirty="0"/>
              <a:t>Open Innovation</a:t>
            </a:r>
            <a:endParaRPr lang="en-IN" sz="3200" i="1" dirty="0"/>
          </a:p>
        </p:txBody>
      </p:sp>
      <p:sp>
        <p:nvSpPr>
          <p:cNvPr id="3" name="TextBox 2">
            <a:extLst>
              <a:ext uri="{FF2B5EF4-FFF2-40B4-BE49-F238E27FC236}">
                <a16:creationId xmlns:a16="http://schemas.microsoft.com/office/drawing/2014/main" id="{3EDADFB7-E1A3-B7C6-86EB-E2C7D7F8B426}"/>
              </a:ext>
            </a:extLst>
          </p:cNvPr>
          <p:cNvSpPr txBox="1"/>
          <p:nvPr/>
        </p:nvSpPr>
        <p:spPr>
          <a:xfrm>
            <a:off x="13804492" y="6390833"/>
            <a:ext cx="4365524" cy="584775"/>
          </a:xfrm>
          <a:prstGeom prst="rect">
            <a:avLst/>
          </a:prstGeom>
          <a:noFill/>
        </p:spPr>
        <p:txBody>
          <a:bodyPr wrap="square" rtlCol="0">
            <a:spAutoFit/>
          </a:bodyPr>
          <a:lstStyle/>
          <a:p>
            <a:r>
              <a:rPr lang="en-US" sz="3200" i="1" dirty="0"/>
              <a:t>IIPS-Placement-Portal</a:t>
            </a:r>
            <a:endParaRPr lang="en-IN" sz="3200" i="1" dirty="0"/>
          </a:p>
        </p:txBody>
      </p:sp>
      <p:sp>
        <p:nvSpPr>
          <p:cNvPr id="4" name="TextBox 3">
            <a:extLst>
              <a:ext uri="{FF2B5EF4-FFF2-40B4-BE49-F238E27FC236}">
                <a16:creationId xmlns:a16="http://schemas.microsoft.com/office/drawing/2014/main" id="{59E9D7DB-847D-8B6F-DD20-BD8E3093D358}"/>
              </a:ext>
            </a:extLst>
          </p:cNvPr>
          <p:cNvSpPr txBox="1"/>
          <p:nvPr/>
        </p:nvSpPr>
        <p:spPr>
          <a:xfrm>
            <a:off x="11557314" y="7280873"/>
            <a:ext cx="2276673" cy="584775"/>
          </a:xfrm>
          <a:prstGeom prst="rect">
            <a:avLst/>
          </a:prstGeom>
          <a:noFill/>
        </p:spPr>
        <p:txBody>
          <a:bodyPr wrap="square" rtlCol="0">
            <a:spAutoFit/>
          </a:bodyPr>
          <a:lstStyle/>
          <a:p>
            <a:r>
              <a:rPr lang="en-US" sz="3200" i="1" dirty="0"/>
              <a:t>GRIND</a:t>
            </a:r>
            <a:endParaRPr lang="en-IN" sz="3200" i="1" dirty="0"/>
          </a:p>
        </p:txBody>
      </p:sp>
      <p:sp>
        <p:nvSpPr>
          <p:cNvPr id="5" name="TextBox 4">
            <a:extLst>
              <a:ext uri="{FF2B5EF4-FFF2-40B4-BE49-F238E27FC236}">
                <a16:creationId xmlns:a16="http://schemas.microsoft.com/office/drawing/2014/main" id="{13722B85-68BE-93C0-CF4E-4E993E12FF14}"/>
              </a:ext>
            </a:extLst>
          </p:cNvPr>
          <p:cNvSpPr txBox="1"/>
          <p:nvPr/>
        </p:nvSpPr>
        <p:spPr>
          <a:xfrm>
            <a:off x="12212627" y="8330375"/>
            <a:ext cx="5854152" cy="523220"/>
          </a:xfrm>
          <a:prstGeom prst="rect">
            <a:avLst/>
          </a:prstGeom>
          <a:noFill/>
        </p:spPr>
        <p:txBody>
          <a:bodyPr wrap="square" rtlCol="0">
            <a:spAutoFit/>
          </a:bodyPr>
          <a:lstStyle/>
          <a:p>
            <a:r>
              <a:rPr lang="en-US" sz="2800" i="1" dirty="0"/>
              <a:t>Arpan, </a:t>
            </a:r>
            <a:r>
              <a:rPr lang="en-US" sz="2800" i="1" dirty="0" err="1"/>
              <a:t>Mradul</a:t>
            </a:r>
            <a:r>
              <a:rPr lang="en-US" sz="2800" i="1" dirty="0"/>
              <a:t>, Animesh, Chinmay</a:t>
            </a:r>
            <a:endParaRPr lang="en-IN" sz="2800" i="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7" name="Google Shape;97;p2"/>
          <p:cNvSpPr txBox="1"/>
          <p:nvPr/>
        </p:nvSpPr>
        <p:spPr>
          <a:xfrm>
            <a:off x="398206" y="670103"/>
            <a:ext cx="9639300" cy="984900"/>
          </a:xfrm>
          <a:prstGeom prst="rect">
            <a:avLst/>
          </a:prstGeom>
          <a:noFill/>
          <a:ln>
            <a:noFill/>
          </a:ln>
        </p:spPr>
        <p:txBody>
          <a:bodyPr spcFirstLastPara="1" wrap="square" lIns="0" tIns="0" rIns="0" bIns="0" anchor="t" anchorCtr="0">
            <a:spAutoFit/>
          </a:bodyPr>
          <a:lstStyle/>
          <a:p>
            <a:pPr marL="0" marR="0" lvl="0" indent="0" algn="l" rtl="0">
              <a:lnSpc>
                <a:spcPct val="140006"/>
              </a:lnSpc>
              <a:spcBef>
                <a:spcPts val="0"/>
              </a:spcBef>
              <a:spcAft>
                <a:spcPts val="0"/>
              </a:spcAft>
              <a:buNone/>
            </a:pPr>
            <a:r>
              <a:rPr lang="en-US" sz="6399" b="1" i="0" u="none" strike="noStrike" cap="none" dirty="0">
                <a:solidFill>
                  <a:srgbClr val="4285F3"/>
                </a:solidFill>
              </a:rPr>
              <a:t>PROBLEM STATEMENT</a:t>
            </a:r>
            <a:endParaRPr b="1" dirty="0"/>
          </a:p>
        </p:txBody>
      </p:sp>
      <p:sp>
        <p:nvSpPr>
          <p:cNvPr id="98" name="Google Shape;98;p2"/>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2" name="TextBox 1">
            <a:extLst>
              <a:ext uri="{FF2B5EF4-FFF2-40B4-BE49-F238E27FC236}">
                <a16:creationId xmlns:a16="http://schemas.microsoft.com/office/drawing/2014/main" id="{DDC7E945-4135-825E-BD69-821F7A12C892}"/>
              </a:ext>
            </a:extLst>
          </p:cNvPr>
          <p:cNvSpPr txBox="1"/>
          <p:nvPr/>
        </p:nvSpPr>
        <p:spPr>
          <a:xfrm>
            <a:off x="376083" y="1886582"/>
            <a:ext cx="17535833" cy="7848302"/>
          </a:xfrm>
          <a:prstGeom prst="rect">
            <a:avLst/>
          </a:prstGeom>
          <a:noFill/>
        </p:spPr>
        <p:txBody>
          <a:bodyPr wrap="square" rtlCol="0">
            <a:spAutoFit/>
          </a:bodyPr>
          <a:lstStyle/>
          <a:p>
            <a:r>
              <a:rPr lang="en-US" sz="2800" dirty="0"/>
              <a:t>Campus placement management at IIPS is done manually, error-prone processes that can create significant inefficiencies :</a:t>
            </a:r>
            <a:br>
              <a:rPr lang="en-US" sz="2800" dirty="0"/>
            </a:br>
            <a:endParaRPr lang="en-US" sz="2800" dirty="0"/>
          </a:p>
          <a:p>
            <a:r>
              <a:rPr lang="en-US" sz="2800" b="1" u="sng" dirty="0"/>
              <a:t>Who is Affected:</a:t>
            </a:r>
            <a:endParaRPr lang="en-US" sz="2800" u="sng" dirty="0"/>
          </a:p>
          <a:p>
            <a:r>
              <a:rPr lang="en-US" sz="2800" b="1" dirty="0"/>
              <a:t>Students-</a:t>
            </a:r>
            <a:r>
              <a:rPr lang="en-US" sz="2800" dirty="0"/>
              <a:t> struggle to track multiple placement drives, eligibility criteria, and application statuses across different companies</a:t>
            </a:r>
          </a:p>
          <a:p>
            <a:r>
              <a:rPr lang="en-US" sz="2800" b="1" dirty="0"/>
              <a:t>Training &amp; Placement Officers (TPO)-</a:t>
            </a:r>
            <a:r>
              <a:rPr lang="en-US" sz="2800" dirty="0"/>
              <a:t> are overwhelmed by managing spreadsheets, manual eligibility verification, and tracking hundreds of applications</a:t>
            </a:r>
          </a:p>
          <a:p>
            <a:endParaRPr lang="en-US" sz="2800" dirty="0"/>
          </a:p>
          <a:p>
            <a:r>
              <a:rPr lang="en-US" sz="2800" b="1" u="sng" dirty="0"/>
              <a:t>Why It Matters:</a:t>
            </a:r>
            <a:endParaRPr lang="en-US" sz="2800" u="sng" dirty="0"/>
          </a:p>
          <a:p>
            <a:pPr marL="457200" indent="-457200">
              <a:buFont typeface="Arial" panose="020B0604020202020204" pitchFamily="34" charset="0"/>
              <a:buChar char="•"/>
            </a:pPr>
            <a:r>
              <a:rPr lang="en-US" sz="2800" dirty="0"/>
              <a:t>Manual eligibility checking leads to 5-10% error rate in application screening</a:t>
            </a:r>
          </a:p>
          <a:p>
            <a:pPr marL="457200" indent="-457200">
              <a:buFont typeface="Arial" panose="020B0604020202020204" pitchFamily="34" charset="0"/>
              <a:buChar char="•"/>
            </a:pPr>
            <a:r>
              <a:rPr lang="en-US" sz="2800" dirty="0"/>
              <a:t>Students miss opportunities due to lack of centralized information</a:t>
            </a:r>
          </a:p>
          <a:p>
            <a:pPr marL="457200" indent="-457200">
              <a:buFont typeface="Arial" panose="020B0604020202020204" pitchFamily="34" charset="0"/>
              <a:buChar char="•"/>
            </a:pPr>
            <a:r>
              <a:rPr lang="en-US" sz="2800" dirty="0"/>
              <a:t>TPOs spend 60% of their time on administrative tasks instead of strategic planning</a:t>
            </a:r>
          </a:p>
          <a:p>
            <a:pPr marL="457200" indent="-457200">
              <a:buFont typeface="Arial" panose="020B0604020202020204" pitchFamily="34" charset="0"/>
              <a:buChar char="•"/>
            </a:pPr>
            <a:r>
              <a:rPr lang="en-US" sz="2800" dirty="0"/>
              <a:t>No standardized system for tier-based placement rules (Regular/Dream/Super Dream)</a:t>
            </a:r>
            <a:br>
              <a:rPr lang="en-US" sz="2800" dirty="0"/>
            </a:br>
            <a:endParaRPr lang="en-US" sz="2800" dirty="0"/>
          </a:p>
          <a:p>
            <a:r>
              <a:rPr lang="en-US" sz="2800" b="1" dirty="0"/>
              <a:t>Real-World Relevance:</a:t>
            </a:r>
            <a:r>
              <a:rPr lang="en-US" sz="2800" dirty="0"/>
              <a:t> With over 5,000+ engineering colleges in India conducting campus placements annually, an estimated 2 million+ students face these challenges every year. The current fragmented approach results in placement delays, missed opportunities, and administrative burnout.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C5C900E-7960-162A-0A9C-EA43221DB245}"/>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EE77B302-1203-7312-B75A-9ECCE06E1EDA}"/>
              </a:ext>
            </a:extLst>
          </p:cNvPr>
          <p:cNvSpPr txBox="1"/>
          <p:nvPr/>
        </p:nvSpPr>
        <p:spPr>
          <a:xfrm>
            <a:off x="398206" y="670103"/>
            <a:ext cx="9639300" cy="1378647"/>
          </a:xfrm>
          <a:prstGeom prst="rect">
            <a:avLst/>
          </a:prstGeom>
          <a:noFill/>
          <a:ln>
            <a:noFill/>
          </a:ln>
        </p:spPr>
        <p:txBody>
          <a:bodyPr spcFirstLastPara="1" wrap="square" lIns="0" tIns="0" rIns="0" bIns="0" anchor="t" anchorCtr="0">
            <a:spAutoFit/>
          </a:bodyPr>
          <a:lstStyle/>
          <a:p>
            <a:pPr lvl="0">
              <a:lnSpc>
                <a:spcPct val="140006"/>
              </a:lnSpc>
            </a:pPr>
            <a:r>
              <a:rPr lang="en-US" sz="6399" b="1" dirty="0">
                <a:solidFill>
                  <a:srgbClr val="4285F3"/>
                </a:solidFill>
              </a:rPr>
              <a:t>IDEA SUMMARY</a:t>
            </a:r>
            <a:endParaRPr lang="en-US" sz="6600" b="1" dirty="0"/>
          </a:p>
        </p:txBody>
      </p:sp>
      <p:sp>
        <p:nvSpPr>
          <p:cNvPr id="98" name="Google Shape;98;p2">
            <a:extLst>
              <a:ext uri="{FF2B5EF4-FFF2-40B4-BE49-F238E27FC236}">
                <a16:creationId xmlns:a16="http://schemas.microsoft.com/office/drawing/2014/main" id="{1A04B1C6-664F-40E4-7EA5-08F915A8DB33}"/>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2" name="TextBox 1">
            <a:extLst>
              <a:ext uri="{FF2B5EF4-FFF2-40B4-BE49-F238E27FC236}">
                <a16:creationId xmlns:a16="http://schemas.microsoft.com/office/drawing/2014/main" id="{A4CD7533-C2C7-F7D6-ECAE-21736602E59D}"/>
              </a:ext>
            </a:extLst>
          </p:cNvPr>
          <p:cNvSpPr txBox="1"/>
          <p:nvPr/>
        </p:nvSpPr>
        <p:spPr>
          <a:xfrm>
            <a:off x="376083" y="1886582"/>
            <a:ext cx="17535833" cy="6555641"/>
          </a:xfrm>
          <a:prstGeom prst="rect">
            <a:avLst/>
          </a:prstGeom>
          <a:noFill/>
        </p:spPr>
        <p:txBody>
          <a:bodyPr wrap="square" rtlCol="0">
            <a:spAutoFit/>
          </a:bodyPr>
          <a:lstStyle/>
          <a:p>
            <a:r>
              <a:rPr lang="en-US" sz="2800" b="1" u="sng" dirty="0"/>
              <a:t>Proposed Solution:</a:t>
            </a:r>
            <a:r>
              <a:rPr lang="en-US" sz="2800" b="1" dirty="0"/>
              <a:t> </a:t>
            </a:r>
            <a:r>
              <a:rPr lang="en-US" sz="3200" b="1" dirty="0">
                <a:solidFill>
                  <a:schemeClr val="bg2">
                    <a:lumMod val="60000"/>
                    <a:lumOff val="40000"/>
                  </a:schemeClr>
                </a:solidFill>
              </a:rPr>
              <a:t>IIPS Placement Portal</a:t>
            </a:r>
            <a:endParaRPr lang="en-US" sz="2800" b="1" dirty="0">
              <a:solidFill>
                <a:schemeClr val="bg2">
                  <a:lumMod val="60000"/>
                  <a:lumOff val="40000"/>
                </a:schemeClr>
              </a:solidFill>
            </a:endParaRPr>
          </a:p>
          <a:p>
            <a:r>
              <a:rPr lang="en-US" sz="2800" dirty="0"/>
              <a:t>A comprehensive, AI-powered campus placement management system that digitizes and automates the entire placement lifecycle.</a:t>
            </a:r>
            <a:br>
              <a:rPr lang="en-US" sz="2800" dirty="0"/>
            </a:br>
            <a:endParaRPr lang="en-US" sz="2800" dirty="0"/>
          </a:p>
          <a:p>
            <a:r>
              <a:rPr lang="en-US" sz="2800" b="1" u="sng" dirty="0"/>
              <a:t>How It Solves the Problem:</a:t>
            </a:r>
            <a:endParaRPr lang="en-US" sz="2800" u="sng" dirty="0"/>
          </a:p>
          <a:p>
            <a:pPr marL="457200" indent="-457200">
              <a:buFont typeface="Arial" panose="020B0604020202020204" pitchFamily="34" charset="0"/>
              <a:buChar char="•"/>
            </a:pPr>
            <a:r>
              <a:rPr lang="en-US" sz="2800" b="1" dirty="0"/>
              <a:t>Centralized Platform</a:t>
            </a:r>
            <a:r>
              <a:rPr lang="en-US" sz="2800" dirty="0"/>
              <a:t>: Single dashboard for students, TPO, and administrators to manage all placement activities</a:t>
            </a:r>
          </a:p>
          <a:p>
            <a:pPr marL="457200" indent="-457200">
              <a:buFont typeface="Arial" panose="020B0604020202020204" pitchFamily="34" charset="0"/>
              <a:buChar char="•"/>
            </a:pPr>
            <a:r>
              <a:rPr lang="en-US" sz="2800" b="1" dirty="0"/>
              <a:t>AI-Powered Resume Analysis</a:t>
            </a:r>
            <a:r>
              <a:rPr lang="en-US" sz="2800" dirty="0"/>
              <a:t>: Google Gemini automatically extracts skills from uploaded resumes, eliminating manual data entry</a:t>
            </a:r>
          </a:p>
          <a:p>
            <a:pPr marL="457200" indent="-457200">
              <a:buFont typeface="Arial" panose="020B0604020202020204" pitchFamily="34" charset="0"/>
              <a:buChar char="•"/>
            </a:pPr>
            <a:r>
              <a:rPr lang="en-US" sz="2800" b="1" dirty="0"/>
              <a:t>Automated Eligibility Engine</a:t>
            </a:r>
            <a:r>
              <a:rPr lang="en-US" sz="2800" dirty="0"/>
              <a:t>: Real-time eligibility checking based on CGPA, program, backlogs, and tier-based rules</a:t>
            </a:r>
          </a:p>
          <a:p>
            <a:pPr marL="457200" indent="-457200">
              <a:buFont typeface="Arial" panose="020B0604020202020204" pitchFamily="34" charset="0"/>
              <a:buChar char="•"/>
            </a:pPr>
            <a:r>
              <a:rPr lang="en-US" sz="2800" b="1" dirty="0"/>
              <a:t>Smart Tier Management</a:t>
            </a:r>
            <a:r>
              <a:rPr lang="en-US" sz="2800" dirty="0"/>
              <a:t>: Automatic enforcement of Regular/Dream/Super Dream placement policies</a:t>
            </a:r>
          </a:p>
          <a:p>
            <a:pPr marL="457200" indent="-457200">
              <a:buFont typeface="Arial" panose="020B0604020202020204" pitchFamily="34" charset="0"/>
              <a:buChar char="•"/>
            </a:pPr>
            <a:r>
              <a:rPr lang="en-US" sz="2800" b="1" dirty="0"/>
              <a:t>Real-Time Analytics</a:t>
            </a:r>
            <a:r>
              <a:rPr lang="en-US" sz="2800" dirty="0"/>
              <a:t>: Instant insights into placement rates, company-wise statistics, and student progress</a:t>
            </a:r>
          </a:p>
          <a:p>
            <a:pPr marL="457200" indent="-457200">
              <a:buFont typeface="Arial" panose="020B0604020202020204" pitchFamily="34" charset="0"/>
              <a:buChar char="•"/>
            </a:pPr>
            <a:r>
              <a:rPr lang="en-US" sz="2800" b="1" dirty="0"/>
              <a:t>Key Outcome:</a:t>
            </a:r>
            <a:r>
              <a:rPr lang="en-US" sz="2800" dirty="0"/>
              <a:t> Transform placement management from a 2-week manual process to a streamlined 2-day digital workflow with 99% accuracy.</a:t>
            </a:r>
          </a:p>
        </p:txBody>
      </p:sp>
    </p:spTree>
    <p:extLst>
      <p:ext uri="{BB962C8B-B14F-4D97-AF65-F5344CB8AC3E}">
        <p14:creationId xmlns:p14="http://schemas.microsoft.com/office/powerpoint/2010/main" val="19012216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4D05E95-1BAC-B531-8560-B5C1BE8D684E}"/>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3256AB39-95B0-4B35-9EEE-D06EA4FC9121}"/>
              </a:ext>
            </a:extLst>
          </p:cNvPr>
          <p:cNvSpPr txBox="1"/>
          <p:nvPr/>
        </p:nvSpPr>
        <p:spPr>
          <a:xfrm>
            <a:off x="398206" y="670103"/>
            <a:ext cx="17513710" cy="1421928"/>
          </a:xfrm>
          <a:prstGeom prst="rect">
            <a:avLst/>
          </a:prstGeom>
          <a:noFill/>
          <a:ln>
            <a:noFill/>
          </a:ln>
        </p:spPr>
        <p:txBody>
          <a:bodyPr spcFirstLastPara="1" wrap="square" lIns="0" tIns="0" rIns="0" bIns="0" anchor="t" anchorCtr="0">
            <a:spAutoFit/>
          </a:bodyPr>
          <a:lstStyle/>
          <a:p>
            <a:pPr lvl="0">
              <a:lnSpc>
                <a:spcPct val="140006"/>
              </a:lnSpc>
            </a:pPr>
            <a:r>
              <a:rPr lang="en-US" sz="6600" b="1" dirty="0">
                <a:solidFill>
                  <a:srgbClr val="4285F3"/>
                </a:solidFill>
              </a:rPr>
              <a:t>SOUTION DESCRIPTION</a:t>
            </a:r>
            <a:endParaRPr b="1" dirty="0"/>
          </a:p>
        </p:txBody>
      </p:sp>
      <p:sp>
        <p:nvSpPr>
          <p:cNvPr id="98" name="Google Shape;98;p2">
            <a:extLst>
              <a:ext uri="{FF2B5EF4-FFF2-40B4-BE49-F238E27FC236}">
                <a16:creationId xmlns:a16="http://schemas.microsoft.com/office/drawing/2014/main" id="{0EF7081A-0B82-1AA8-A912-B68B1F788031}"/>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2" name="TextBox 1">
            <a:extLst>
              <a:ext uri="{FF2B5EF4-FFF2-40B4-BE49-F238E27FC236}">
                <a16:creationId xmlns:a16="http://schemas.microsoft.com/office/drawing/2014/main" id="{67882F42-2B5C-50F3-29B7-E43F546DEF67}"/>
              </a:ext>
            </a:extLst>
          </p:cNvPr>
          <p:cNvSpPr txBox="1"/>
          <p:nvPr/>
        </p:nvSpPr>
        <p:spPr>
          <a:xfrm>
            <a:off x="376083" y="1886582"/>
            <a:ext cx="17535833" cy="3539430"/>
          </a:xfrm>
          <a:prstGeom prst="rect">
            <a:avLst/>
          </a:prstGeom>
          <a:noFill/>
        </p:spPr>
        <p:txBody>
          <a:bodyPr wrap="square" rtlCol="0">
            <a:spAutoFit/>
          </a:bodyPr>
          <a:lstStyle/>
          <a:p>
            <a:r>
              <a:rPr lang="en-US" sz="2800" dirty="0"/>
              <a:t>The IIPS Placement Portal is a full-stack web application built with Next.js and Firebase that automates campus placements. Students upload resumes, and Google Gemini AI extracts technical skills automatically. The eligibility engine instantly validates student qualifications against drive criteria including CGPA, programs, and tier restrictions. TPOs create and manage drives through an intuitive admin panel, while students browse, apply, and track applications in real-time. The platform enforces tier-based placement rules (Regular/Dream/Super Dream) automatically, preventing policy violations. Real-time analytics dashboards provide actionable insights on placement progress, helping institutions make data-driven decisions and improve placement outcomes.</a:t>
            </a:r>
            <a:endParaRPr lang="en-US" sz="4800" dirty="0"/>
          </a:p>
        </p:txBody>
      </p:sp>
    </p:spTree>
    <p:extLst>
      <p:ext uri="{BB962C8B-B14F-4D97-AF65-F5344CB8AC3E}">
        <p14:creationId xmlns:p14="http://schemas.microsoft.com/office/powerpoint/2010/main" val="1322767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4F79769-16D0-F261-41FC-20B19342770E}"/>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FEBCF7A9-831A-3D2A-3008-F1AB8156869D}"/>
              </a:ext>
            </a:extLst>
          </p:cNvPr>
          <p:cNvSpPr txBox="1"/>
          <p:nvPr/>
        </p:nvSpPr>
        <p:spPr>
          <a:xfrm>
            <a:off x="398206" y="670103"/>
            <a:ext cx="9639300" cy="1378647"/>
          </a:xfrm>
          <a:prstGeom prst="rect">
            <a:avLst/>
          </a:prstGeom>
          <a:noFill/>
          <a:ln>
            <a:noFill/>
          </a:ln>
        </p:spPr>
        <p:txBody>
          <a:bodyPr spcFirstLastPara="1" wrap="square" lIns="0" tIns="0" rIns="0" bIns="0" anchor="t" anchorCtr="0">
            <a:spAutoFit/>
          </a:bodyPr>
          <a:lstStyle/>
          <a:p>
            <a:pPr lvl="0">
              <a:lnSpc>
                <a:spcPct val="140006"/>
              </a:lnSpc>
            </a:pPr>
            <a:r>
              <a:rPr lang="en-US" sz="6399" b="1" dirty="0">
                <a:solidFill>
                  <a:srgbClr val="4285F3"/>
                </a:solidFill>
              </a:rPr>
              <a:t>INNOVATION</a:t>
            </a:r>
            <a:endParaRPr lang="en-US" sz="6600" b="1" dirty="0"/>
          </a:p>
        </p:txBody>
      </p:sp>
      <p:sp>
        <p:nvSpPr>
          <p:cNvPr id="98" name="Google Shape;98;p2">
            <a:extLst>
              <a:ext uri="{FF2B5EF4-FFF2-40B4-BE49-F238E27FC236}">
                <a16:creationId xmlns:a16="http://schemas.microsoft.com/office/drawing/2014/main" id="{C0C0FB71-FD28-A32A-83BD-2BDF0C3D78E8}"/>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2" name="TextBox 1">
            <a:extLst>
              <a:ext uri="{FF2B5EF4-FFF2-40B4-BE49-F238E27FC236}">
                <a16:creationId xmlns:a16="http://schemas.microsoft.com/office/drawing/2014/main" id="{C524EC2E-B6F6-7989-0C5C-7D459159250C}"/>
              </a:ext>
            </a:extLst>
          </p:cNvPr>
          <p:cNvSpPr txBox="1"/>
          <p:nvPr/>
        </p:nvSpPr>
        <p:spPr>
          <a:xfrm>
            <a:off x="376083" y="1886582"/>
            <a:ext cx="17535833" cy="7848302"/>
          </a:xfrm>
          <a:prstGeom prst="rect">
            <a:avLst/>
          </a:prstGeom>
          <a:noFill/>
        </p:spPr>
        <p:txBody>
          <a:bodyPr wrap="square" rtlCol="0">
            <a:spAutoFit/>
          </a:bodyPr>
          <a:lstStyle/>
          <a:p>
            <a:r>
              <a:rPr lang="en-US" sz="2800" b="1" u="sng" dirty="0"/>
              <a:t>What Makes This Solution Unique</a:t>
            </a:r>
            <a:br>
              <a:rPr lang="en-US" sz="2800" b="1" u="sng" dirty="0"/>
            </a:br>
            <a:endParaRPr lang="en-US" sz="2800" b="1" u="sng" dirty="0"/>
          </a:p>
          <a:p>
            <a:r>
              <a:rPr lang="en-US" sz="2800" b="1" dirty="0"/>
              <a:t>1. AI-Powered Skill Extraction-</a:t>
            </a:r>
            <a:r>
              <a:rPr lang="en-US" sz="2800" dirty="0"/>
              <a:t> Unlike traditional portals requiring manual skill entry, our system uses Google Gemini's multimodal capabilities to directly analyze PDF resumes and extract normalized skills automatically.</a:t>
            </a:r>
            <a:br>
              <a:rPr lang="en-US" sz="2800" dirty="0"/>
            </a:br>
            <a:endParaRPr lang="en-US" sz="2800" dirty="0"/>
          </a:p>
          <a:p>
            <a:r>
              <a:rPr lang="en-US" sz="2800" b="1" dirty="0"/>
              <a:t>2. Intelligent Tier Management System-</a:t>
            </a:r>
            <a:r>
              <a:rPr lang="en-US" sz="2800" dirty="0"/>
              <a:t> automated tier-based placement logic:</a:t>
            </a:r>
          </a:p>
          <a:p>
            <a:pPr marL="457200" indent="-457200">
              <a:buFont typeface="Arial" panose="020B0604020202020204" pitchFamily="34" charset="0"/>
              <a:buChar char="•"/>
            </a:pPr>
            <a:r>
              <a:rPr lang="en-US" sz="2800" dirty="0"/>
              <a:t>Regular tier (&lt; 10 LPA): Open to all eligible</a:t>
            </a:r>
          </a:p>
          <a:p>
            <a:pPr marL="457200" indent="-457200">
              <a:buFont typeface="Arial" panose="020B0604020202020204" pitchFamily="34" charset="0"/>
              <a:buChar char="•"/>
            </a:pPr>
            <a:r>
              <a:rPr lang="en-US" sz="2800" dirty="0"/>
              <a:t>Dream tier (10-20 LPA): Only unplaced or regular-placed</a:t>
            </a:r>
          </a:p>
          <a:p>
            <a:pPr marL="457200" indent="-457200">
              <a:buFont typeface="Arial" panose="020B0604020202020204" pitchFamily="34" charset="0"/>
              <a:buChar char="•"/>
            </a:pPr>
            <a:r>
              <a:rPr lang="en-US" sz="2800" dirty="0"/>
              <a:t>Super Dream tier (&gt; 20 LPA): Progressive eligibility</a:t>
            </a:r>
            <a:br>
              <a:rPr lang="en-US" sz="2800" dirty="0"/>
            </a:br>
            <a:endParaRPr lang="en-US" sz="2800" dirty="0"/>
          </a:p>
          <a:p>
            <a:r>
              <a:rPr lang="en-US" sz="2800" b="1" dirty="0"/>
              <a:t>3. Real-Time Eligibility Engine-</a:t>
            </a:r>
            <a:r>
              <a:rPr lang="en-US" sz="2800" dirty="0"/>
              <a:t> Instant, rule-based eligibility checking that considers multiple factors simultaneously (CGPA, program, batch, backlogs, placement tier).</a:t>
            </a:r>
            <a:br>
              <a:rPr lang="en-US" sz="2800" dirty="0"/>
            </a:br>
            <a:br>
              <a:rPr lang="en-US" sz="2800" dirty="0"/>
            </a:br>
            <a:endParaRPr lang="en-US" sz="2800" dirty="0"/>
          </a:p>
          <a:p>
            <a:r>
              <a:rPr lang="en-US" sz="2800" b="1" dirty="0"/>
              <a:t>Gap Addressed:</a:t>
            </a:r>
            <a:r>
              <a:rPr lang="en-US" sz="2800" dirty="0"/>
              <a:t> Existing solutions either lack AI integration, don't support tier-based placement rules, or require expensive enterprise licenses. Our solution brings enterprise-grade features with modern AI to educational institutions affordably.</a:t>
            </a:r>
          </a:p>
        </p:txBody>
      </p:sp>
    </p:spTree>
    <p:extLst>
      <p:ext uri="{BB962C8B-B14F-4D97-AF65-F5344CB8AC3E}">
        <p14:creationId xmlns:p14="http://schemas.microsoft.com/office/powerpoint/2010/main" val="34898173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70659E09-162D-654F-ACBB-92C31ABEAA2F}"/>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EDB9D9C3-BAB4-D782-9B3B-150C60D5A9A8}"/>
              </a:ext>
            </a:extLst>
          </p:cNvPr>
          <p:cNvSpPr txBox="1"/>
          <p:nvPr/>
        </p:nvSpPr>
        <p:spPr>
          <a:xfrm>
            <a:off x="398206" y="670103"/>
            <a:ext cx="9639300" cy="1378647"/>
          </a:xfrm>
          <a:prstGeom prst="rect">
            <a:avLst/>
          </a:prstGeom>
          <a:noFill/>
          <a:ln>
            <a:noFill/>
          </a:ln>
        </p:spPr>
        <p:txBody>
          <a:bodyPr spcFirstLastPara="1" wrap="square" lIns="0" tIns="0" rIns="0" bIns="0" anchor="t" anchorCtr="0">
            <a:spAutoFit/>
          </a:bodyPr>
          <a:lstStyle/>
          <a:p>
            <a:pPr lvl="0">
              <a:lnSpc>
                <a:spcPct val="140006"/>
              </a:lnSpc>
            </a:pPr>
            <a:r>
              <a:rPr lang="en-US" sz="6399" b="1" dirty="0">
                <a:solidFill>
                  <a:srgbClr val="4285F3"/>
                </a:solidFill>
              </a:rPr>
              <a:t>OPPORTUNITIES</a:t>
            </a:r>
            <a:endParaRPr b="1" dirty="0"/>
          </a:p>
        </p:txBody>
      </p:sp>
      <p:sp>
        <p:nvSpPr>
          <p:cNvPr id="98" name="Google Shape;98;p2">
            <a:extLst>
              <a:ext uri="{FF2B5EF4-FFF2-40B4-BE49-F238E27FC236}">
                <a16:creationId xmlns:a16="http://schemas.microsoft.com/office/drawing/2014/main" id="{824E4375-8AAD-A42C-2861-DB5387AE0196}"/>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2" name="TextBox 1">
            <a:extLst>
              <a:ext uri="{FF2B5EF4-FFF2-40B4-BE49-F238E27FC236}">
                <a16:creationId xmlns:a16="http://schemas.microsoft.com/office/drawing/2014/main" id="{5678D8CB-D0C6-D675-1997-1F5DFEE28B5B}"/>
              </a:ext>
            </a:extLst>
          </p:cNvPr>
          <p:cNvSpPr txBox="1"/>
          <p:nvPr/>
        </p:nvSpPr>
        <p:spPr>
          <a:xfrm>
            <a:off x="376083" y="1886582"/>
            <a:ext cx="17535833" cy="7971413"/>
          </a:xfrm>
          <a:prstGeom prst="rect">
            <a:avLst/>
          </a:prstGeom>
          <a:noFill/>
        </p:spPr>
        <p:txBody>
          <a:bodyPr wrap="square" rtlCol="0">
            <a:spAutoFit/>
          </a:bodyPr>
          <a:lstStyle/>
          <a:p>
            <a:r>
              <a:rPr lang="en-IN" sz="3600" b="1" i="0" dirty="0">
                <a:solidFill>
                  <a:srgbClr val="1F2328"/>
                </a:solidFill>
                <a:effectLst/>
                <a:latin typeface="+mj-lt"/>
              </a:rPr>
              <a:t>Comparison with Existing Solutions:</a:t>
            </a:r>
            <a:br>
              <a:rPr lang="en-US" sz="2800" b="1" dirty="0">
                <a:latin typeface="+mj-lt"/>
              </a:rPr>
            </a:br>
            <a:endParaRPr lang="en-US" sz="2800" b="1" dirty="0">
              <a:latin typeface="+mj-lt"/>
            </a:endParaRPr>
          </a:p>
          <a:p>
            <a:endParaRPr lang="en-US" sz="2800" b="1" dirty="0"/>
          </a:p>
          <a:p>
            <a:endParaRPr lang="en-US" sz="2800" b="1" dirty="0"/>
          </a:p>
          <a:p>
            <a:endParaRPr lang="en-US" sz="2800" b="1" dirty="0"/>
          </a:p>
          <a:p>
            <a:endParaRPr lang="en-US" sz="2800" b="1" dirty="0"/>
          </a:p>
          <a:p>
            <a:br>
              <a:rPr lang="en-US" sz="2800" b="1" dirty="0"/>
            </a:br>
            <a:r>
              <a:rPr lang="en-US" sz="2800" b="1" dirty="0"/>
              <a:t>Problem-Solving Approach:</a:t>
            </a:r>
            <a:endParaRPr lang="en-US" sz="2800" dirty="0"/>
          </a:p>
          <a:p>
            <a:pPr marL="514350" indent="-514350">
              <a:buFont typeface="+mj-lt"/>
              <a:buAutoNum type="arabicPeriod"/>
            </a:pPr>
            <a:r>
              <a:rPr lang="en-US" sz="2800" b="1" dirty="0"/>
              <a:t>Scalability</a:t>
            </a:r>
            <a:r>
              <a:rPr lang="en-US" sz="2800" dirty="0"/>
              <a:t>: Cloud-native architecture handles 10,000+ students without performance degradation</a:t>
            </a:r>
          </a:p>
          <a:p>
            <a:pPr marL="514350" indent="-514350">
              <a:buFont typeface="+mj-lt"/>
              <a:buAutoNum type="arabicPeriod"/>
            </a:pPr>
            <a:r>
              <a:rPr lang="en-US" sz="2800" b="1" dirty="0"/>
              <a:t>Accuracy</a:t>
            </a:r>
            <a:r>
              <a:rPr lang="en-US" sz="2800" dirty="0"/>
              <a:t>: Automated checks eliminate human error in eligibility verification</a:t>
            </a:r>
          </a:p>
          <a:p>
            <a:pPr marL="514350" indent="-514350">
              <a:buFont typeface="+mj-lt"/>
              <a:buAutoNum type="arabicPeriod"/>
            </a:pPr>
            <a:r>
              <a:rPr lang="en-US" sz="2800" b="1" dirty="0"/>
              <a:t>Time Savings</a:t>
            </a:r>
            <a:r>
              <a:rPr lang="en-US" sz="2800" dirty="0"/>
              <a:t>: Reduces TPO administrative work by 60%</a:t>
            </a:r>
          </a:p>
          <a:p>
            <a:pPr marL="514350" indent="-514350">
              <a:buFont typeface="+mj-lt"/>
              <a:buAutoNum type="arabicPeriod"/>
            </a:pPr>
            <a:r>
              <a:rPr lang="en-US" sz="2800" b="1" dirty="0"/>
              <a:t>Accessibility</a:t>
            </a:r>
            <a:r>
              <a:rPr lang="en-US" sz="2800" dirty="0"/>
              <a:t>: Web-based platform accessible from any device</a:t>
            </a:r>
          </a:p>
          <a:p>
            <a:pPr marL="514350" indent="-514350">
              <a:buFont typeface="+mj-lt"/>
              <a:buAutoNum type="arabicPeriod"/>
            </a:pPr>
            <a:r>
              <a:rPr lang="en-US" sz="2800" b="1" dirty="0"/>
              <a:t>Transparency</a:t>
            </a:r>
            <a:r>
              <a:rPr lang="en-US" sz="2800" dirty="0"/>
              <a:t>: Students see real-time status, reducing TPO query load</a:t>
            </a:r>
            <a:br>
              <a:rPr lang="en-US" sz="2800" dirty="0"/>
            </a:br>
            <a:endParaRPr lang="en-US" sz="2800" dirty="0"/>
          </a:p>
          <a:p>
            <a:r>
              <a:rPr lang="en-US" sz="2800" b="1" dirty="0"/>
              <a:t>Market Opportunity:</a:t>
            </a:r>
            <a:endParaRPr lang="en-US" sz="2800" dirty="0"/>
          </a:p>
          <a:p>
            <a:pPr marL="457200" indent="-457200">
              <a:buFont typeface="Arial" panose="020B0604020202020204" pitchFamily="34" charset="0"/>
              <a:buChar char="•"/>
            </a:pPr>
            <a:r>
              <a:rPr lang="en-US" sz="2800" dirty="0"/>
              <a:t>5,000+ engineering colleges in India</a:t>
            </a:r>
          </a:p>
          <a:p>
            <a:pPr marL="457200" indent="-457200">
              <a:buFont typeface="Arial" panose="020B0604020202020204" pitchFamily="34" charset="0"/>
              <a:buChar char="•"/>
            </a:pPr>
            <a:r>
              <a:rPr lang="en-US" sz="2800" dirty="0"/>
              <a:t>Growing EdTech market (₹30,000 crore by 2025)</a:t>
            </a:r>
          </a:p>
          <a:p>
            <a:pPr marL="457200" indent="-457200">
              <a:buFont typeface="Arial" panose="020B0604020202020204" pitchFamily="34" charset="0"/>
              <a:buChar char="•"/>
            </a:pPr>
            <a:r>
              <a:rPr lang="en-US" sz="2800" dirty="0"/>
              <a:t>Increasing demand for placement automation post-COVID</a:t>
            </a:r>
          </a:p>
        </p:txBody>
      </p:sp>
      <p:graphicFrame>
        <p:nvGraphicFramePr>
          <p:cNvPr id="5" name="Table 4">
            <a:extLst>
              <a:ext uri="{FF2B5EF4-FFF2-40B4-BE49-F238E27FC236}">
                <a16:creationId xmlns:a16="http://schemas.microsoft.com/office/drawing/2014/main" id="{E83BC0C9-F911-69B9-3BFB-C96D275FC292}"/>
              </a:ext>
            </a:extLst>
          </p:cNvPr>
          <p:cNvGraphicFramePr>
            <a:graphicFrameLocks noGrp="1"/>
          </p:cNvGraphicFramePr>
          <p:nvPr>
            <p:extLst>
              <p:ext uri="{D42A27DB-BD31-4B8C-83A1-F6EECF244321}">
                <p14:modId xmlns:p14="http://schemas.microsoft.com/office/powerpoint/2010/main" val="253997154"/>
              </p:ext>
            </p:extLst>
          </p:nvPr>
        </p:nvGraphicFramePr>
        <p:xfrm>
          <a:off x="398206" y="2572645"/>
          <a:ext cx="9114504" cy="2264826"/>
        </p:xfrm>
        <a:graphic>
          <a:graphicData uri="http://schemas.openxmlformats.org/drawingml/2006/table">
            <a:tbl>
              <a:tblPr/>
              <a:tblGrid>
                <a:gridCol w="3038168">
                  <a:extLst>
                    <a:ext uri="{9D8B030D-6E8A-4147-A177-3AD203B41FA5}">
                      <a16:colId xmlns:a16="http://schemas.microsoft.com/office/drawing/2014/main" val="2133487947"/>
                    </a:ext>
                  </a:extLst>
                </a:gridCol>
                <a:gridCol w="3038168">
                  <a:extLst>
                    <a:ext uri="{9D8B030D-6E8A-4147-A177-3AD203B41FA5}">
                      <a16:colId xmlns:a16="http://schemas.microsoft.com/office/drawing/2014/main" val="374577442"/>
                    </a:ext>
                  </a:extLst>
                </a:gridCol>
                <a:gridCol w="3038168">
                  <a:extLst>
                    <a:ext uri="{9D8B030D-6E8A-4147-A177-3AD203B41FA5}">
                      <a16:colId xmlns:a16="http://schemas.microsoft.com/office/drawing/2014/main" val="1751233529"/>
                    </a:ext>
                  </a:extLst>
                </a:gridCol>
              </a:tblGrid>
              <a:tr h="377471">
                <a:tc>
                  <a:txBody>
                    <a:bodyPr/>
                    <a:lstStyle/>
                    <a:p>
                      <a:pPr>
                        <a:buNone/>
                      </a:pPr>
                      <a:r>
                        <a:rPr lang="en-IN" b="1">
                          <a:effectLst/>
                        </a:rPr>
                        <a:t>Feature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buNone/>
                      </a:pPr>
                      <a:r>
                        <a:rPr lang="en-IN" b="1">
                          <a:effectLst/>
                        </a:rPr>
                        <a:t>Traditional Systems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buNone/>
                      </a:pPr>
                      <a:r>
                        <a:rPr lang="en-IN" b="1">
                          <a:effectLst/>
                        </a:rPr>
                        <a:t>Our Solution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38048978"/>
                  </a:ext>
                </a:extLst>
              </a:tr>
              <a:tr h="377471">
                <a:tc>
                  <a:txBody>
                    <a:bodyPr/>
                    <a:lstStyle/>
                    <a:p>
                      <a:pPr>
                        <a:buNone/>
                      </a:pPr>
                      <a:r>
                        <a:rPr lang="en-IN">
                          <a:effectLst/>
                        </a:rPr>
                        <a:t>Resume Parsing</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buNone/>
                      </a:pPr>
                      <a:r>
                        <a:rPr lang="en-IN">
                          <a:effectLst/>
                        </a:rPr>
                        <a:t>Manual entry</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buNone/>
                      </a:pPr>
                      <a:r>
                        <a:rPr lang="en-IN" dirty="0">
                          <a:effectLst/>
                        </a:rPr>
                        <a:t>AI-automated</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408731338"/>
                  </a:ext>
                </a:extLst>
              </a:tr>
              <a:tr h="377471">
                <a:tc>
                  <a:txBody>
                    <a:bodyPr/>
                    <a:lstStyle/>
                    <a:p>
                      <a:pPr>
                        <a:buNone/>
                      </a:pPr>
                      <a:r>
                        <a:rPr lang="en-IN">
                          <a:effectLst/>
                        </a:rPr>
                        <a:t>Eligibility Check</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buNone/>
                      </a:pPr>
                      <a:r>
                        <a:rPr lang="en-IN">
                          <a:effectLst/>
                        </a:rPr>
                        <a:t>Spreadsheet formulas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buNone/>
                      </a:pPr>
                      <a:r>
                        <a:rPr lang="en-IN" dirty="0">
                          <a:effectLst/>
                        </a:rPr>
                        <a:t>Real-time engine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008955118"/>
                  </a:ext>
                </a:extLst>
              </a:tr>
              <a:tr h="377471">
                <a:tc>
                  <a:txBody>
                    <a:bodyPr/>
                    <a:lstStyle/>
                    <a:p>
                      <a:pPr>
                        <a:buNone/>
                      </a:pPr>
                      <a:r>
                        <a:rPr lang="en-IN">
                          <a:effectLst/>
                        </a:rPr>
                        <a:t>Tier Management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buNone/>
                      </a:pPr>
                      <a:r>
                        <a:rPr lang="en-IN">
                          <a:effectLst/>
                        </a:rPr>
                        <a:t>Manual tracking</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buNone/>
                      </a:pPr>
                      <a:r>
                        <a:rPr lang="en-IN">
                          <a:effectLst/>
                        </a:rPr>
                        <a:t>Automated rules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656504959"/>
                  </a:ext>
                </a:extLst>
              </a:tr>
              <a:tr h="377471">
                <a:tc>
                  <a:txBody>
                    <a:bodyPr/>
                    <a:lstStyle/>
                    <a:p>
                      <a:pPr>
                        <a:buNone/>
                      </a:pPr>
                      <a:r>
                        <a:rPr lang="en-IN">
                          <a:effectLst/>
                        </a:rPr>
                        <a:t>Analytics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buNone/>
                      </a:pPr>
                      <a:r>
                        <a:rPr lang="en-IN">
                          <a:effectLst/>
                        </a:rPr>
                        <a:t>Basic reports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buNone/>
                      </a:pPr>
                      <a:r>
                        <a:rPr lang="en-IN">
                          <a:effectLst/>
                        </a:rPr>
                        <a:t>Interactive dashboards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547346344"/>
                  </a:ext>
                </a:extLst>
              </a:tr>
              <a:tr h="377471">
                <a:tc>
                  <a:txBody>
                    <a:bodyPr/>
                    <a:lstStyle/>
                    <a:p>
                      <a:pPr>
                        <a:buNone/>
                      </a:pPr>
                      <a:r>
                        <a:rPr lang="en-IN">
                          <a:effectLst/>
                        </a:rPr>
                        <a:t>Cost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buNone/>
                      </a:pPr>
                      <a:r>
                        <a:rPr lang="en-IN">
                          <a:effectLst/>
                        </a:rPr>
                        <a:t>₹5-10 lakhs/year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buNone/>
                      </a:pPr>
                      <a:r>
                        <a:rPr lang="en-IN" dirty="0">
                          <a:effectLst/>
                        </a:rPr>
                        <a:t>Open source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720787127"/>
                  </a:ext>
                </a:extLst>
              </a:tr>
            </a:tbl>
          </a:graphicData>
        </a:graphic>
      </p:graphicFrame>
    </p:spTree>
    <p:extLst>
      <p:ext uri="{BB962C8B-B14F-4D97-AF65-F5344CB8AC3E}">
        <p14:creationId xmlns:p14="http://schemas.microsoft.com/office/powerpoint/2010/main" val="3414951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5FF53472-AAAD-92F0-E4F6-FE4F53E35677}"/>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30E8AEE6-4C7A-E096-32E6-48F52276B0F1}"/>
              </a:ext>
            </a:extLst>
          </p:cNvPr>
          <p:cNvSpPr txBox="1"/>
          <p:nvPr/>
        </p:nvSpPr>
        <p:spPr>
          <a:xfrm>
            <a:off x="398206" y="670103"/>
            <a:ext cx="17535832" cy="1378647"/>
          </a:xfrm>
          <a:prstGeom prst="rect">
            <a:avLst/>
          </a:prstGeom>
          <a:noFill/>
          <a:ln>
            <a:noFill/>
          </a:ln>
        </p:spPr>
        <p:txBody>
          <a:bodyPr spcFirstLastPara="1" wrap="square" lIns="0" tIns="0" rIns="0" bIns="0" anchor="t" anchorCtr="0">
            <a:spAutoFit/>
          </a:bodyPr>
          <a:lstStyle/>
          <a:p>
            <a:pPr lvl="0">
              <a:lnSpc>
                <a:spcPct val="140006"/>
              </a:lnSpc>
            </a:pPr>
            <a:r>
              <a:rPr lang="en-US" sz="6399" b="1" dirty="0">
                <a:solidFill>
                  <a:srgbClr val="4285F3"/>
                </a:solidFill>
              </a:rPr>
              <a:t>PROPOSED FEATURES &amp; CAPABILITIES</a:t>
            </a:r>
            <a:endParaRPr lang="en-US" sz="6600" b="1" dirty="0"/>
          </a:p>
        </p:txBody>
      </p:sp>
      <p:sp>
        <p:nvSpPr>
          <p:cNvPr id="98" name="Google Shape;98;p2">
            <a:extLst>
              <a:ext uri="{FF2B5EF4-FFF2-40B4-BE49-F238E27FC236}">
                <a16:creationId xmlns:a16="http://schemas.microsoft.com/office/drawing/2014/main" id="{439E21C6-FE51-32B0-4D14-9753C27E3259}"/>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2" name="TextBox 1">
            <a:extLst>
              <a:ext uri="{FF2B5EF4-FFF2-40B4-BE49-F238E27FC236}">
                <a16:creationId xmlns:a16="http://schemas.microsoft.com/office/drawing/2014/main" id="{7EB8D759-AC5F-F0C0-5FB6-E54EA92E5C5D}"/>
              </a:ext>
            </a:extLst>
          </p:cNvPr>
          <p:cNvSpPr txBox="1"/>
          <p:nvPr/>
        </p:nvSpPr>
        <p:spPr>
          <a:xfrm>
            <a:off x="376084" y="1886582"/>
            <a:ext cx="9121878" cy="584775"/>
          </a:xfrm>
          <a:prstGeom prst="rect">
            <a:avLst/>
          </a:prstGeom>
          <a:noFill/>
        </p:spPr>
        <p:txBody>
          <a:bodyPr wrap="square" rtlCol="0">
            <a:spAutoFit/>
          </a:bodyPr>
          <a:lstStyle/>
          <a:p>
            <a:r>
              <a:rPr lang="en-IN" sz="3200" b="1" u="sng" dirty="0"/>
              <a:t>Core Features</a:t>
            </a:r>
            <a:r>
              <a:rPr lang="en-IN" sz="3200" b="1" dirty="0"/>
              <a:t> :</a:t>
            </a:r>
          </a:p>
        </p:txBody>
      </p:sp>
      <p:sp>
        <p:nvSpPr>
          <p:cNvPr id="3" name="TextBox 2">
            <a:extLst>
              <a:ext uri="{FF2B5EF4-FFF2-40B4-BE49-F238E27FC236}">
                <a16:creationId xmlns:a16="http://schemas.microsoft.com/office/drawing/2014/main" id="{68DC359C-A623-8353-2DC5-131A3F0DE8C0}"/>
              </a:ext>
            </a:extLst>
          </p:cNvPr>
          <p:cNvSpPr txBox="1"/>
          <p:nvPr/>
        </p:nvSpPr>
        <p:spPr>
          <a:xfrm>
            <a:off x="398206" y="2831690"/>
            <a:ext cx="8745794" cy="3108543"/>
          </a:xfrm>
          <a:prstGeom prst="rect">
            <a:avLst/>
          </a:prstGeom>
          <a:noFill/>
        </p:spPr>
        <p:txBody>
          <a:bodyPr wrap="square" rtlCol="0">
            <a:spAutoFit/>
          </a:bodyPr>
          <a:lstStyle/>
          <a:p>
            <a:r>
              <a:rPr lang="en-IN" sz="2800" b="1" dirty="0"/>
              <a:t>For Students:</a:t>
            </a:r>
            <a:endParaRPr lang="en-IN" sz="2800" dirty="0"/>
          </a:p>
          <a:p>
            <a:pPr marL="457200" indent="-457200">
              <a:buFont typeface="Arial" panose="020B0604020202020204" pitchFamily="34" charset="0"/>
              <a:buChar char="•"/>
            </a:pPr>
            <a:r>
              <a:rPr lang="en-IN" sz="2800" dirty="0"/>
              <a:t>📝 Profile management with academic details</a:t>
            </a:r>
          </a:p>
          <a:p>
            <a:pPr marL="457200" indent="-457200">
              <a:buFont typeface="Arial" panose="020B0604020202020204" pitchFamily="34" charset="0"/>
              <a:buChar char="•"/>
            </a:pPr>
            <a:r>
              <a:rPr lang="en-IN" sz="2800" dirty="0"/>
              <a:t>📄 AI-powered resume upload and skill extraction</a:t>
            </a:r>
          </a:p>
          <a:p>
            <a:pPr marL="457200" indent="-457200">
              <a:buFont typeface="Arial" panose="020B0604020202020204" pitchFamily="34" charset="0"/>
              <a:buChar char="•"/>
            </a:pPr>
            <a:r>
              <a:rPr lang="en-IN" sz="2800" dirty="0"/>
              <a:t>🔍 Browse and filter placement drives</a:t>
            </a:r>
          </a:p>
          <a:p>
            <a:pPr marL="457200" indent="-457200">
              <a:buFont typeface="Arial" panose="020B0604020202020204" pitchFamily="34" charset="0"/>
              <a:buChar char="•"/>
            </a:pPr>
            <a:r>
              <a:rPr lang="en-IN" sz="2800" dirty="0"/>
              <a:t>✅ Real-time eligibility status</a:t>
            </a:r>
          </a:p>
          <a:p>
            <a:pPr marL="457200" indent="-457200">
              <a:buFont typeface="Arial" panose="020B0604020202020204" pitchFamily="34" charset="0"/>
              <a:buChar char="•"/>
            </a:pPr>
            <a:r>
              <a:rPr lang="en-IN" sz="2800" dirty="0"/>
              <a:t>📊 Application tracking dashboard</a:t>
            </a:r>
          </a:p>
          <a:p>
            <a:pPr marL="457200" indent="-457200">
              <a:buFont typeface="Arial" panose="020B0604020202020204" pitchFamily="34" charset="0"/>
              <a:buChar char="•"/>
            </a:pPr>
            <a:r>
              <a:rPr lang="en-IN" sz="2800" dirty="0"/>
              <a:t>🔔 Status update notifications</a:t>
            </a:r>
          </a:p>
        </p:txBody>
      </p:sp>
      <p:sp>
        <p:nvSpPr>
          <p:cNvPr id="4" name="TextBox 3">
            <a:extLst>
              <a:ext uri="{FF2B5EF4-FFF2-40B4-BE49-F238E27FC236}">
                <a16:creationId xmlns:a16="http://schemas.microsoft.com/office/drawing/2014/main" id="{9487A4DE-BE88-A535-30A8-EFA1A913AACE}"/>
              </a:ext>
            </a:extLst>
          </p:cNvPr>
          <p:cNvSpPr txBox="1"/>
          <p:nvPr/>
        </p:nvSpPr>
        <p:spPr>
          <a:xfrm>
            <a:off x="10294374" y="2831689"/>
            <a:ext cx="7595420" cy="3108543"/>
          </a:xfrm>
          <a:prstGeom prst="rect">
            <a:avLst/>
          </a:prstGeom>
          <a:noFill/>
        </p:spPr>
        <p:txBody>
          <a:bodyPr wrap="square" rtlCol="0">
            <a:spAutoFit/>
          </a:bodyPr>
          <a:lstStyle/>
          <a:p>
            <a:r>
              <a:rPr lang="en-IN" sz="2800" b="1" dirty="0"/>
              <a:t>For TPO/Admin:</a:t>
            </a:r>
            <a:endParaRPr lang="en-IN" sz="2800" dirty="0"/>
          </a:p>
          <a:p>
            <a:pPr marL="457200" indent="-457200">
              <a:buFont typeface="Arial" panose="020B0604020202020204" pitchFamily="34" charset="0"/>
              <a:buChar char="•"/>
            </a:pPr>
            <a:r>
              <a:rPr lang="en-IN" sz="2800" dirty="0"/>
              <a:t>🏢 Company and drive management</a:t>
            </a:r>
          </a:p>
          <a:p>
            <a:pPr marL="457200" indent="-457200">
              <a:buFont typeface="Arial" panose="020B0604020202020204" pitchFamily="34" charset="0"/>
              <a:buChar char="•"/>
            </a:pPr>
            <a:r>
              <a:rPr lang="en-IN" sz="2800" dirty="0"/>
              <a:t>📋 Bulk application processing</a:t>
            </a:r>
          </a:p>
          <a:p>
            <a:pPr marL="457200" indent="-457200">
              <a:buFont typeface="Arial" panose="020B0604020202020204" pitchFamily="34" charset="0"/>
              <a:buChar char="•"/>
            </a:pPr>
            <a:r>
              <a:rPr lang="en-IN" sz="2800" dirty="0"/>
              <a:t>👥 Student management and debarment</a:t>
            </a:r>
          </a:p>
          <a:p>
            <a:pPr marL="457200" indent="-457200">
              <a:buFont typeface="Arial" panose="020B0604020202020204" pitchFamily="34" charset="0"/>
              <a:buChar char="•"/>
            </a:pPr>
            <a:r>
              <a:rPr lang="en-IN" sz="2800" dirty="0"/>
              <a:t>📈 Real-time analytics and reports</a:t>
            </a:r>
          </a:p>
          <a:p>
            <a:pPr marL="457200" indent="-457200">
              <a:buFont typeface="Arial" panose="020B0604020202020204" pitchFamily="34" charset="0"/>
              <a:buChar char="•"/>
            </a:pPr>
            <a:r>
              <a:rPr lang="en-IN" sz="2800" dirty="0"/>
              <a:t>📥 CSV export functionality</a:t>
            </a:r>
          </a:p>
          <a:p>
            <a:pPr marL="457200" indent="-457200">
              <a:buFont typeface="Arial" panose="020B0604020202020204" pitchFamily="34" charset="0"/>
              <a:buChar char="•"/>
            </a:pPr>
            <a:r>
              <a:rPr lang="en-IN" sz="2800" dirty="0"/>
              <a:t>⚙️ Role-based access control</a:t>
            </a:r>
          </a:p>
        </p:txBody>
      </p:sp>
      <p:sp>
        <p:nvSpPr>
          <p:cNvPr id="6" name="TextBox 5">
            <a:extLst>
              <a:ext uri="{FF2B5EF4-FFF2-40B4-BE49-F238E27FC236}">
                <a16:creationId xmlns:a16="http://schemas.microsoft.com/office/drawing/2014/main" id="{DACAA0E4-BCFC-1ECA-F6CD-63D7BA832254}"/>
              </a:ext>
            </a:extLst>
          </p:cNvPr>
          <p:cNvSpPr txBox="1"/>
          <p:nvPr/>
        </p:nvSpPr>
        <p:spPr>
          <a:xfrm>
            <a:off x="376084" y="6300565"/>
            <a:ext cx="17240865" cy="2677656"/>
          </a:xfrm>
          <a:prstGeom prst="rect">
            <a:avLst/>
          </a:prstGeom>
          <a:noFill/>
        </p:spPr>
        <p:txBody>
          <a:bodyPr wrap="square" rtlCol="0">
            <a:spAutoFit/>
          </a:bodyPr>
          <a:lstStyle/>
          <a:p>
            <a:r>
              <a:rPr lang="en-IN" sz="2800" b="1" dirty="0"/>
              <a:t>Advanced Capabilities:</a:t>
            </a:r>
            <a:endParaRPr lang="en-IN" sz="2800" dirty="0"/>
          </a:p>
          <a:p>
            <a:pPr marL="457200" indent="-457200">
              <a:buFont typeface="Arial" panose="020B0604020202020204" pitchFamily="34" charset="0"/>
              <a:buChar char="•"/>
            </a:pPr>
            <a:r>
              <a:rPr lang="en-IN" sz="2800" dirty="0"/>
              <a:t>🤖 Google Gemini AI integration for resume analysis</a:t>
            </a:r>
          </a:p>
          <a:p>
            <a:pPr marL="457200" indent="-457200">
              <a:buFont typeface="Arial" panose="020B0604020202020204" pitchFamily="34" charset="0"/>
              <a:buChar char="•"/>
            </a:pPr>
            <a:r>
              <a:rPr lang="en-IN" sz="2800" dirty="0"/>
              <a:t>🎯 Multi-factor eligibility engine</a:t>
            </a:r>
          </a:p>
          <a:p>
            <a:pPr marL="457200" indent="-457200">
              <a:buFont typeface="Arial" panose="020B0604020202020204" pitchFamily="34" charset="0"/>
              <a:buChar char="•"/>
            </a:pPr>
            <a:r>
              <a:rPr lang="en-IN" sz="2800" dirty="0"/>
              <a:t>📊 Tier-wise placement tracking</a:t>
            </a:r>
          </a:p>
          <a:p>
            <a:pPr marL="457200" indent="-457200">
              <a:buFont typeface="Arial" panose="020B0604020202020204" pitchFamily="34" charset="0"/>
              <a:buChar char="•"/>
            </a:pPr>
            <a:r>
              <a:rPr lang="en-IN" sz="2800" dirty="0"/>
              <a:t>🔐 Secure Firebase authentication</a:t>
            </a:r>
          </a:p>
          <a:p>
            <a:pPr marL="457200" indent="-457200">
              <a:buFont typeface="Arial" panose="020B0604020202020204" pitchFamily="34" charset="0"/>
              <a:buChar char="•"/>
            </a:pPr>
            <a:r>
              <a:rPr lang="en-IN" sz="2800" dirty="0"/>
              <a:t>📱 Responsive design for mobile access</a:t>
            </a:r>
          </a:p>
        </p:txBody>
      </p:sp>
    </p:spTree>
    <p:extLst>
      <p:ext uri="{BB962C8B-B14F-4D97-AF65-F5344CB8AC3E}">
        <p14:creationId xmlns:p14="http://schemas.microsoft.com/office/powerpoint/2010/main" val="867065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4A069EE2-DD53-94E9-D03A-ABB24EDF8C1D}"/>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E29B9392-3533-D57C-C14B-1955FDF65DA8}"/>
              </a:ext>
            </a:extLst>
          </p:cNvPr>
          <p:cNvSpPr txBox="1"/>
          <p:nvPr/>
        </p:nvSpPr>
        <p:spPr>
          <a:xfrm>
            <a:off x="398206" y="670103"/>
            <a:ext cx="17668568" cy="1378647"/>
          </a:xfrm>
          <a:prstGeom prst="rect">
            <a:avLst/>
          </a:prstGeom>
          <a:noFill/>
          <a:ln>
            <a:noFill/>
          </a:ln>
        </p:spPr>
        <p:txBody>
          <a:bodyPr spcFirstLastPara="1" wrap="square" lIns="0" tIns="0" rIns="0" bIns="0" anchor="t" anchorCtr="0">
            <a:spAutoFit/>
          </a:bodyPr>
          <a:lstStyle/>
          <a:p>
            <a:pPr lvl="0">
              <a:lnSpc>
                <a:spcPct val="140006"/>
              </a:lnSpc>
            </a:pPr>
            <a:r>
              <a:rPr lang="en-US" sz="6399" b="1" dirty="0">
                <a:solidFill>
                  <a:srgbClr val="4285F3"/>
                </a:solidFill>
              </a:rPr>
              <a:t>GOOGLE TECHNOLOGIES PLANNED</a:t>
            </a:r>
            <a:endParaRPr lang="en-US" sz="6600" b="1" dirty="0"/>
          </a:p>
        </p:txBody>
      </p:sp>
      <p:sp>
        <p:nvSpPr>
          <p:cNvPr id="98" name="Google Shape;98;p2">
            <a:extLst>
              <a:ext uri="{FF2B5EF4-FFF2-40B4-BE49-F238E27FC236}">
                <a16:creationId xmlns:a16="http://schemas.microsoft.com/office/drawing/2014/main" id="{9D358CC5-2A47-42A4-4E72-F4992A263E45}"/>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2" name="TextBox 1">
            <a:extLst>
              <a:ext uri="{FF2B5EF4-FFF2-40B4-BE49-F238E27FC236}">
                <a16:creationId xmlns:a16="http://schemas.microsoft.com/office/drawing/2014/main" id="{1164E88B-6712-54F1-2167-E6971DB056DB}"/>
              </a:ext>
            </a:extLst>
          </p:cNvPr>
          <p:cNvSpPr txBox="1"/>
          <p:nvPr/>
        </p:nvSpPr>
        <p:spPr>
          <a:xfrm>
            <a:off x="376083" y="1886582"/>
            <a:ext cx="18339620" cy="6986528"/>
          </a:xfrm>
          <a:prstGeom prst="rect">
            <a:avLst/>
          </a:prstGeom>
          <a:noFill/>
        </p:spPr>
        <p:txBody>
          <a:bodyPr wrap="square" rtlCol="0">
            <a:spAutoFit/>
          </a:bodyPr>
          <a:lstStyle/>
          <a:p>
            <a:r>
              <a:rPr lang="en-US" sz="2800" b="1" u="sng" dirty="0"/>
              <a:t>Implementation Details</a:t>
            </a:r>
            <a:r>
              <a:rPr lang="en-US" sz="2800" b="1" dirty="0"/>
              <a:t> :</a:t>
            </a:r>
          </a:p>
          <a:p>
            <a:endParaRPr lang="en-US" sz="2800" b="1" dirty="0"/>
          </a:p>
          <a:p>
            <a:r>
              <a:rPr lang="en-US" sz="2800" b="1" dirty="0"/>
              <a:t>1. Firebase Authentication</a:t>
            </a:r>
            <a:endParaRPr lang="en-US" sz="2800" dirty="0"/>
          </a:p>
          <a:p>
            <a:pPr marL="457200" indent="-457200">
              <a:buFont typeface="Arial" panose="020B0604020202020204" pitchFamily="34" charset="0"/>
              <a:buChar char="•"/>
            </a:pPr>
            <a:r>
              <a:rPr lang="en-US" sz="2800" b="1" dirty="0"/>
              <a:t>Purpose</a:t>
            </a:r>
            <a:r>
              <a:rPr lang="en-US" sz="2800" dirty="0"/>
              <a:t>: Secure user authentication and session management</a:t>
            </a:r>
          </a:p>
          <a:p>
            <a:pPr marL="457200" indent="-457200">
              <a:buFont typeface="Arial" panose="020B0604020202020204" pitchFamily="34" charset="0"/>
              <a:buChar char="•"/>
            </a:pPr>
            <a:r>
              <a:rPr lang="en-US" sz="2800" b="1" dirty="0"/>
              <a:t>Implementation</a:t>
            </a:r>
            <a:r>
              <a:rPr lang="en-US" sz="2800" dirty="0"/>
              <a:t>: Email/password authentication with custom claims for role management (student/</a:t>
            </a:r>
            <a:r>
              <a:rPr lang="en-US" sz="2800" dirty="0" err="1"/>
              <a:t>tpo</a:t>
            </a:r>
            <a:r>
              <a:rPr lang="en-US" sz="2800" dirty="0"/>
              <a:t>/admin)</a:t>
            </a:r>
          </a:p>
          <a:p>
            <a:pPr marL="457200" indent="-457200">
              <a:buFont typeface="Arial" panose="020B0604020202020204" pitchFamily="34" charset="0"/>
              <a:buChar char="•"/>
            </a:pPr>
            <a:r>
              <a:rPr lang="en-US" sz="2800" b="1" dirty="0"/>
              <a:t>Benefit</a:t>
            </a:r>
            <a:r>
              <a:rPr lang="en-US" sz="2800" dirty="0"/>
              <a:t>: Enterprise-grade security without managing auth infrastructure</a:t>
            </a:r>
          </a:p>
          <a:p>
            <a:endParaRPr lang="en-US" sz="2800" dirty="0"/>
          </a:p>
          <a:p>
            <a:r>
              <a:rPr lang="en-US" sz="2800" b="1" dirty="0"/>
              <a:t>2. Cloud Firestore</a:t>
            </a:r>
            <a:endParaRPr lang="en-US" sz="2800" dirty="0"/>
          </a:p>
          <a:p>
            <a:pPr marL="457200" indent="-457200">
              <a:buFont typeface="Arial" panose="020B0604020202020204" pitchFamily="34" charset="0"/>
              <a:buChar char="•"/>
            </a:pPr>
            <a:r>
              <a:rPr lang="en-US" sz="2800" b="1" dirty="0"/>
              <a:t>Purpose</a:t>
            </a:r>
            <a:r>
              <a:rPr lang="en-US" sz="2800" dirty="0"/>
              <a:t>: Real-time NoSQL database for all application data</a:t>
            </a:r>
          </a:p>
          <a:p>
            <a:pPr marL="457200" indent="-457200">
              <a:buFont typeface="Arial" panose="020B0604020202020204" pitchFamily="34" charset="0"/>
              <a:buChar char="•"/>
            </a:pPr>
            <a:r>
              <a:rPr lang="en-US" sz="2800" b="1" dirty="0"/>
              <a:t>Implementation</a:t>
            </a:r>
            <a:r>
              <a:rPr lang="en-US" sz="2800" dirty="0"/>
              <a:t>: Collections for users, drives, applications, companies with real-time listeners</a:t>
            </a:r>
          </a:p>
          <a:p>
            <a:pPr marL="457200" indent="-457200">
              <a:buFont typeface="Arial" panose="020B0604020202020204" pitchFamily="34" charset="0"/>
              <a:buChar char="•"/>
            </a:pPr>
            <a:r>
              <a:rPr lang="en-US" sz="2800" b="1" dirty="0"/>
              <a:t>Benefit</a:t>
            </a:r>
            <a:r>
              <a:rPr lang="en-US" sz="2800" dirty="0"/>
              <a:t>: Instant data sync across all users, offline support</a:t>
            </a:r>
          </a:p>
          <a:p>
            <a:endParaRPr lang="en-US" sz="2800" dirty="0"/>
          </a:p>
          <a:p>
            <a:r>
              <a:rPr lang="en-US" sz="2800" b="1" dirty="0"/>
              <a:t>3. Firebase Admin SDK</a:t>
            </a:r>
            <a:endParaRPr lang="en-US" sz="2800" dirty="0"/>
          </a:p>
          <a:p>
            <a:pPr marL="457200" indent="-457200">
              <a:buFont typeface="Arial" panose="020B0604020202020204" pitchFamily="34" charset="0"/>
              <a:buChar char="•"/>
            </a:pPr>
            <a:r>
              <a:rPr lang="en-US" sz="2800" b="1" dirty="0"/>
              <a:t>Purpose</a:t>
            </a:r>
            <a:r>
              <a:rPr lang="en-US" sz="2800" dirty="0"/>
              <a:t>: Server-side operations with elevated privileges</a:t>
            </a:r>
          </a:p>
          <a:p>
            <a:pPr marL="457200" indent="-457200">
              <a:buFont typeface="Arial" panose="020B0604020202020204" pitchFamily="34" charset="0"/>
              <a:buChar char="•"/>
            </a:pPr>
            <a:r>
              <a:rPr lang="en-US" sz="2800" b="1" dirty="0"/>
              <a:t>Implementation</a:t>
            </a:r>
            <a:r>
              <a:rPr lang="en-US" sz="2800" dirty="0"/>
              <a:t>: Session management, user role verification, secure data operations</a:t>
            </a:r>
          </a:p>
          <a:p>
            <a:pPr marL="457200" indent="-457200">
              <a:buFont typeface="Arial" panose="020B0604020202020204" pitchFamily="34" charset="0"/>
              <a:buChar char="•"/>
            </a:pPr>
            <a:r>
              <a:rPr lang="en-US" sz="2800" b="1" dirty="0"/>
              <a:t>Benefit</a:t>
            </a:r>
            <a:r>
              <a:rPr lang="en-US" sz="2800" dirty="0"/>
              <a:t>: Secure server-to-Firebase communication</a:t>
            </a:r>
          </a:p>
        </p:txBody>
      </p:sp>
    </p:spTree>
    <p:extLst>
      <p:ext uri="{BB962C8B-B14F-4D97-AF65-F5344CB8AC3E}">
        <p14:creationId xmlns:p14="http://schemas.microsoft.com/office/powerpoint/2010/main" val="4271214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4555172-D211-7690-65DF-047D59E17420}"/>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6FFF2168-B315-949A-CCB7-A88A698BC767}"/>
              </a:ext>
            </a:extLst>
          </p:cNvPr>
          <p:cNvSpPr txBox="1"/>
          <p:nvPr/>
        </p:nvSpPr>
        <p:spPr>
          <a:xfrm>
            <a:off x="398206" y="670103"/>
            <a:ext cx="17668568" cy="1378647"/>
          </a:xfrm>
          <a:prstGeom prst="rect">
            <a:avLst/>
          </a:prstGeom>
          <a:noFill/>
          <a:ln>
            <a:noFill/>
          </a:ln>
        </p:spPr>
        <p:txBody>
          <a:bodyPr spcFirstLastPara="1" wrap="square" lIns="0" tIns="0" rIns="0" bIns="0" anchor="t" anchorCtr="0">
            <a:spAutoFit/>
          </a:bodyPr>
          <a:lstStyle/>
          <a:p>
            <a:pPr lvl="0">
              <a:lnSpc>
                <a:spcPct val="140006"/>
              </a:lnSpc>
            </a:pPr>
            <a:r>
              <a:rPr lang="en-US" sz="6399" b="1" dirty="0">
                <a:solidFill>
                  <a:srgbClr val="4285F3"/>
                </a:solidFill>
              </a:rPr>
              <a:t>GOOGLE AI TOOLS INTEGRATED</a:t>
            </a:r>
            <a:endParaRPr lang="en-US" sz="6600" b="1" dirty="0"/>
          </a:p>
        </p:txBody>
      </p:sp>
      <p:sp>
        <p:nvSpPr>
          <p:cNvPr id="98" name="Google Shape;98;p2">
            <a:extLst>
              <a:ext uri="{FF2B5EF4-FFF2-40B4-BE49-F238E27FC236}">
                <a16:creationId xmlns:a16="http://schemas.microsoft.com/office/drawing/2014/main" id="{D09D5465-2F67-DCC2-6814-7B96CAC04EDD}"/>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2" name="TextBox 1">
            <a:extLst>
              <a:ext uri="{FF2B5EF4-FFF2-40B4-BE49-F238E27FC236}">
                <a16:creationId xmlns:a16="http://schemas.microsoft.com/office/drawing/2014/main" id="{116670D6-54DA-C67E-B754-C9E557B2BEFE}"/>
              </a:ext>
            </a:extLst>
          </p:cNvPr>
          <p:cNvSpPr txBox="1"/>
          <p:nvPr/>
        </p:nvSpPr>
        <p:spPr>
          <a:xfrm>
            <a:off x="376083" y="1886582"/>
            <a:ext cx="18339620" cy="7909858"/>
          </a:xfrm>
          <a:prstGeom prst="rect">
            <a:avLst/>
          </a:prstGeom>
          <a:noFill/>
        </p:spPr>
        <p:txBody>
          <a:bodyPr wrap="square" rtlCol="0">
            <a:spAutoFit/>
          </a:bodyPr>
          <a:lstStyle/>
          <a:p>
            <a:r>
              <a:rPr lang="en-IN" sz="2800" b="1" u="sng" dirty="0"/>
              <a:t>Google Gemini AI Integration</a:t>
            </a:r>
            <a:r>
              <a:rPr lang="en-IN" sz="2800" b="1" dirty="0"/>
              <a:t> :</a:t>
            </a:r>
          </a:p>
          <a:p>
            <a:r>
              <a:rPr lang="en-IN" sz="2400" b="1" dirty="0"/>
              <a:t>Purpose of AI Integration:</a:t>
            </a:r>
            <a:r>
              <a:rPr lang="en-IN" sz="2400" dirty="0"/>
              <a:t> Automate the tedious and error-prone task of extracting technical skills from student resumes.</a:t>
            </a:r>
          </a:p>
          <a:p>
            <a:endParaRPr lang="en-IN" sz="2400" dirty="0"/>
          </a:p>
          <a:p>
            <a:r>
              <a:rPr lang="en-IN" sz="2400" b="1" dirty="0"/>
              <a:t>How AI Improves the Solution:-</a:t>
            </a:r>
            <a:endParaRPr lang="en-IN" sz="2400" dirty="0"/>
          </a:p>
          <a:p>
            <a:r>
              <a:rPr lang="en-IN" sz="2400" b="1" dirty="0"/>
              <a:t>1. Multimodal PDF Analysis</a:t>
            </a:r>
            <a:endParaRPr lang="en-IN" sz="2400" dirty="0"/>
          </a:p>
          <a:p>
            <a:pPr marL="342900" indent="-342900">
              <a:buFont typeface="Arial" panose="020B0604020202020204" pitchFamily="34" charset="0"/>
              <a:buChar char="•"/>
            </a:pPr>
            <a:r>
              <a:rPr lang="en-IN" sz="2400" dirty="0"/>
              <a:t>Gemini 1.5 Flash directly processes PDF documents</a:t>
            </a:r>
          </a:p>
          <a:p>
            <a:pPr marL="342900" indent="-342900">
              <a:buFont typeface="Arial" panose="020B0604020202020204" pitchFamily="34" charset="0"/>
              <a:buChar char="•"/>
            </a:pPr>
            <a:r>
              <a:rPr lang="en-IN" sz="2400" dirty="0"/>
              <a:t>No need for intermediate text extraction libraries</a:t>
            </a:r>
          </a:p>
          <a:p>
            <a:pPr marL="342900" indent="-342900">
              <a:buFont typeface="Arial" panose="020B0604020202020204" pitchFamily="34" charset="0"/>
              <a:buChar char="•"/>
            </a:pPr>
            <a:r>
              <a:rPr lang="en-IN" sz="2400" dirty="0"/>
              <a:t>Handles various resume formats and layouts</a:t>
            </a:r>
          </a:p>
          <a:p>
            <a:endParaRPr lang="en-IN" sz="2400" dirty="0"/>
          </a:p>
          <a:p>
            <a:r>
              <a:rPr lang="en-IN" sz="2400" b="1" dirty="0"/>
              <a:t>2. Skill Normalization</a:t>
            </a:r>
            <a:endParaRPr lang="en-IN" sz="2400" dirty="0"/>
          </a:p>
          <a:p>
            <a:pPr marL="342900" indent="-342900">
              <a:buFont typeface="Arial" panose="020B0604020202020204" pitchFamily="34" charset="0"/>
              <a:buChar char="•"/>
            </a:pPr>
            <a:r>
              <a:rPr lang="en-IN" sz="2400" dirty="0"/>
              <a:t>AI understands context: "</a:t>
            </a:r>
            <a:r>
              <a:rPr lang="en-IN" sz="2400" dirty="0" err="1"/>
              <a:t>js</a:t>
            </a:r>
            <a:r>
              <a:rPr lang="en-IN" sz="2400" dirty="0"/>
              <a:t>" → "JavaScript“</a:t>
            </a:r>
          </a:p>
          <a:p>
            <a:pPr marL="342900" indent="-342900">
              <a:buFont typeface="Arial" panose="020B0604020202020204" pitchFamily="34" charset="0"/>
              <a:buChar char="•"/>
            </a:pPr>
            <a:r>
              <a:rPr lang="en-IN" sz="2400" dirty="0"/>
              <a:t>Deduplication of similar skills</a:t>
            </a:r>
          </a:p>
          <a:p>
            <a:pPr marL="342900" indent="-342900">
              <a:buFont typeface="Arial" panose="020B0604020202020204" pitchFamily="34" charset="0"/>
              <a:buChar char="•"/>
            </a:pPr>
            <a:r>
              <a:rPr lang="en-IN" sz="2400" dirty="0"/>
              <a:t>Categorization (language/framework/tool)</a:t>
            </a:r>
          </a:p>
          <a:p>
            <a:pPr marL="342900" indent="-342900">
              <a:buFont typeface="Arial" panose="020B0604020202020204" pitchFamily="34" charset="0"/>
              <a:buChar char="•"/>
            </a:pPr>
            <a:endParaRPr lang="en-IN" sz="2400" dirty="0"/>
          </a:p>
          <a:p>
            <a:r>
              <a:rPr lang="en-IN" sz="2400" b="1" dirty="0"/>
              <a:t>Value Delivered:</a:t>
            </a:r>
            <a:endParaRPr lang="en-IN" sz="2400" dirty="0"/>
          </a:p>
          <a:p>
            <a:pPr marL="342900" indent="-342900">
              <a:buFont typeface="Arial" panose="020B0604020202020204" pitchFamily="34" charset="0"/>
              <a:buChar char="•"/>
            </a:pPr>
            <a:r>
              <a:rPr lang="en-IN" sz="2400" dirty="0"/>
              <a:t>⏱️ Reduces resume review time from 10 minutes to 10 seconds</a:t>
            </a:r>
          </a:p>
          <a:p>
            <a:pPr marL="342900" indent="-342900">
              <a:buFont typeface="Arial" panose="020B0604020202020204" pitchFamily="34" charset="0"/>
              <a:buChar char="•"/>
            </a:pPr>
            <a:r>
              <a:rPr lang="en-IN" sz="2400" dirty="0"/>
              <a:t>✅ 95%+ accuracy in skill extraction</a:t>
            </a:r>
          </a:p>
          <a:p>
            <a:pPr marL="342900" indent="-342900">
              <a:buFont typeface="Arial" panose="020B0604020202020204" pitchFamily="34" charset="0"/>
              <a:buChar char="•"/>
            </a:pPr>
            <a:r>
              <a:rPr lang="en-IN" sz="2400" dirty="0"/>
              <a:t>🔄 Consistent normalization across all resumes</a:t>
            </a:r>
          </a:p>
          <a:p>
            <a:pPr marL="342900" indent="-342900">
              <a:buFont typeface="Arial" panose="020B0604020202020204" pitchFamily="34" charset="0"/>
              <a:buChar char="•"/>
            </a:pPr>
            <a:r>
              <a:rPr lang="en-IN" sz="2400" dirty="0"/>
              <a:t>📊 Enables skill-based analytics and matching</a:t>
            </a:r>
          </a:p>
          <a:p>
            <a:endParaRPr lang="en-IN" sz="2400" dirty="0"/>
          </a:p>
          <a:p>
            <a:r>
              <a:rPr lang="en-IN" sz="2400" b="1" dirty="0"/>
              <a:t>API Used</a:t>
            </a:r>
            <a:r>
              <a:rPr lang="en-IN" sz="2400" dirty="0"/>
              <a:t>: </a:t>
            </a:r>
            <a:r>
              <a:rPr lang="en-IN" sz="2400" dirty="0">
                <a:highlight>
                  <a:srgbClr val="FFFF00"/>
                </a:highlight>
              </a:rPr>
              <a:t>@google/generative-ai </a:t>
            </a:r>
            <a:r>
              <a:rPr lang="en-IN" sz="2400" dirty="0"/>
              <a:t>with </a:t>
            </a:r>
            <a:r>
              <a:rPr lang="en-IN" sz="2400" dirty="0">
                <a:highlight>
                  <a:srgbClr val="FFFF00"/>
                </a:highlight>
              </a:rPr>
              <a:t>gemini-1.5-flash</a:t>
            </a:r>
            <a:r>
              <a:rPr lang="en-IN" sz="2400" dirty="0"/>
              <a:t> model</a:t>
            </a:r>
          </a:p>
        </p:txBody>
      </p:sp>
      <p:sp>
        <p:nvSpPr>
          <p:cNvPr id="6" name="Rectangle: Rounded Corners 5">
            <a:extLst>
              <a:ext uri="{FF2B5EF4-FFF2-40B4-BE49-F238E27FC236}">
                <a16:creationId xmlns:a16="http://schemas.microsoft.com/office/drawing/2014/main" id="{C5EDDBBF-9D17-9161-35F7-ADC1485FBEE1}"/>
              </a:ext>
            </a:extLst>
          </p:cNvPr>
          <p:cNvSpPr/>
          <p:nvPr/>
        </p:nvSpPr>
        <p:spPr>
          <a:xfrm>
            <a:off x="12233787" y="7997419"/>
            <a:ext cx="4542504" cy="14895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2400" dirty="0">
                <a:solidFill>
                  <a:schemeClr val="bg1"/>
                </a:solidFill>
                <a:latin typeface="Lucida Console" panose="020B0609040504020204" pitchFamily="49" charset="0"/>
              </a:rPr>
              <a:t>Output: ["JavaScript", "React", "Node.js", "Python", "MongoDB"]</a:t>
            </a:r>
          </a:p>
        </p:txBody>
      </p:sp>
      <p:sp>
        <p:nvSpPr>
          <p:cNvPr id="7" name="Diamond 6">
            <a:extLst>
              <a:ext uri="{FF2B5EF4-FFF2-40B4-BE49-F238E27FC236}">
                <a16:creationId xmlns:a16="http://schemas.microsoft.com/office/drawing/2014/main" id="{A4B8CE71-A2C4-7EED-2411-538C29961A95}"/>
              </a:ext>
            </a:extLst>
          </p:cNvPr>
          <p:cNvSpPr/>
          <p:nvPr/>
        </p:nvSpPr>
        <p:spPr>
          <a:xfrm>
            <a:off x="12432890" y="5432446"/>
            <a:ext cx="4100052" cy="2037082"/>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bg1"/>
                </a:solidFill>
                <a:latin typeface="Lucida Console" panose="020B0609040504020204" pitchFamily="49" charset="0"/>
              </a:rPr>
              <a:t>Gemini AI Analysis</a:t>
            </a:r>
          </a:p>
        </p:txBody>
      </p:sp>
      <p:sp>
        <p:nvSpPr>
          <p:cNvPr id="19" name="Rectangle: Rounded Corners 18">
            <a:extLst>
              <a:ext uri="{FF2B5EF4-FFF2-40B4-BE49-F238E27FC236}">
                <a16:creationId xmlns:a16="http://schemas.microsoft.com/office/drawing/2014/main" id="{1C2039CC-4B0C-6168-DE5D-5790D5F2817C}"/>
              </a:ext>
            </a:extLst>
          </p:cNvPr>
          <p:cNvSpPr/>
          <p:nvPr/>
        </p:nvSpPr>
        <p:spPr>
          <a:xfrm>
            <a:off x="12233787" y="3191564"/>
            <a:ext cx="4542504" cy="148958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latinLnBrk="0"/>
            <a:r>
              <a:rPr lang="en-IN" sz="2400" dirty="0">
                <a:latin typeface="Lucida Console" panose="020B0609040504020204" pitchFamily="49" charset="0"/>
              </a:rPr>
              <a:t>Input: PDF Resume</a:t>
            </a:r>
          </a:p>
        </p:txBody>
      </p:sp>
      <p:cxnSp>
        <p:nvCxnSpPr>
          <p:cNvPr id="23" name="Straight Connector 22">
            <a:extLst>
              <a:ext uri="{FF2B5EF4-FFF2-40B4-BE49-F238E27FC236}">
                <a16:creationId xmlns:a16="http://schemas.microsoft.com/office/drawing/2014/main" id="{9FFFEE91-22B3-9FE4-37A2-036876D90CA5}"/>
              </a:ext>
            </a:extLst>
          </p:cNvPr>
          <p:cNvCxnSpPr>
            <a:cxnSpLocks/>
            <a:stCxn id="19" idx="2"/>
            <a:endCxn id="7" idx="0"/>
          </p:cNvCxnSpPr>
          <p:nvPr/>
        </p:nvCxnSpPr>
        <p:spPr>
          <a:xfrm flipH="1">
            <a:off x="14482916" y="4681151"/>
            <a:ext cx="22123" cy="7512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13B9258-857C-8F08-FAEC-969F31C8382D}"/>
              </a:ext>
            </a:extLst>
          </p:cNvPr>
          <p:cNvCxnSpPr>
            <a:cxnSpLocks/>
            <a:stCxn id="7" idx="2"/>
            <a:endCxn id="6" idx="0"/>
          </p:cNvCxnSpPr>
          <p:nvPr/>
        </p:nvCxnSpPr>
        <p:spPr>
          <a:xfrm>
            <a:off x="14482916" y="7469528"/>
            <a:ext cx="22123" cy="52789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5589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13EFB1E-6238-B507-F536-853FCE457323}"/>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F3FB7273-ADE6-F5F9-DF0B-40B85187CFA3}"/>
              </a:ext>
            </a:extLst>
          </p:cNvPr>
          <p:cNvSpPr txBox="1"/>
          <p:nvPr/>
        </p:nvSpPr>
        <p:spPr>
          <a:xfrm>
            <a:off x="398206" y="670103"/>
            <a:ext cx="17668568" cy="1378647"/>
          </a:xfrm>
          <a:prstGeom prst="rect">
            <a:avLst/>
          </a:prstGeom>
          <a:noFill/>
          <a:ln>
            <a:noFill/>
          </a:ln>
        </p:spPr>
        <p:txBody>
          <a:bodyPr spcFirstLastPara="1" wrap="square" lIns="0" tIns="0" rIns="0" bIns="0" anchor="t" anchorCtr="0">
            <a:spAutoFit/>
          </a:bodyPr>
          <a:lstStyle/>
          <a:p>
            <a:pPr lvl="0">
              <a:lnSpc>
                <a:spcPct val="140006"/>
              </a:lnSpc>
            </a:pPr>
            <a:r>
              <a:rPr lang="en-US" sz="6399" b="1" dirty="0">
                <a:solidFill>
                  <a:srgbClr val="4285F3"/>
                </a:solidFill>
              </a:rPr>
              <a:t>PROCESS FLOW DIAGRAM</a:t>
            </a:r>
            <a:endParaRPr lang="en-US" sz="6600" dirty="0"/>
          </a:p>
        </p:txBody>
      </p:sp>
      <p:sp>
        <p:nvSpPr>
          <p:cNvPr id="98" name="Google Shape;98;p2">
            <a:extLst>
              <a:ext uri="{FF2B5EF4-FFF2-40B4-BE49-F238E27FC236}">
                <a16:creationId xmlns:a16="http://schemas.microsoft.com/office/drawing/2014/main" id="{76ECA3ED-2E4D-6C9A-5AB7-7415CF7ADD5C}"/>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7" name="TextBox 6">
            <a:extLst>
              <a:ext uri="{FF2B5EF4-FFF2-40B4-BE49-F238E27FC236}">
                <a16:creationId xmlns:a16="http://schemas.microsoft.com/office/drawing/2014/main" id="{D0377A19-7C6A-5EBB-B0CF-C20410A0C367}"/>
              </a:ext>
            </a:extLst>
          </p:cNvPr>
          <p:cNvSpPr txBox="1"/>
          <p:nvPr/>
        </p:nvSpPr>
        <p:spPr>
          <a:xfrm>
            <a:off x="398206" y="1787140"/>
            <a:ext cx="3819833" cy="523220"/>
          </a:xfrm>
          <a:prstGeom prst="rect">
            <a:avLst/>
          </a:prstGeom>
          <a:noFill/>
        </p:spPr>
        <p:txBody>
          <a:bodyPr wrap="square" rtlCol="0">
            <a:spAutoFit/>
          </a:bodyPr>
          <a:lstStyle/>
          <a:p>
            <a:r>
              <a:rPr lang="en-IN" sz="2800" b="1" u="sng" dirty="0"/>
              <a:t>Sequence Diagram</a:t>
            </a:r>
            <a:r>
              <a:rPr lang="en-IN" sz="2800" b="1" dirty="0"/>
              <a:t> :</a:t>
            </a:r>
          </a:p>
        </p:txBody>
      </p:sp>
      <p:pic>
        <p:nvPicPr>
          <p:cNvPr id="9" name="Picture 8">
            <a:extLst>
              <a:ext uri="{FF2B5EF4-FFF2-40B4-BE49-F238E27FC236}">
                <a16:creationId xmlns:a16="http://schemas.microsoft.com/office/drawing/2014/main" id="{46EDA781-4F9C-189C-1E4E-F5FAC7037F7D}"/>
              </a:ext>
            </a:extLst>
          </p:cNvPr>
          <p:cNvPicPr>
            <a:picLocks noChangeAspect="1"/>
          </p:cNvPicPr>
          <p:nvPr/>
        </p:nvPicPr>
        <p:blipFill>
          <a:blip r:embed="rId4"/>
          <a:stretch>
            <a:fillRect/>
          </a:stretch>
        </p:blipFill>
        <p:spPr>
          <a:xfrm>
            <a:off x="0" y="2310360"/>
            <a:ext cx="8967019" cy="7976640"/>
          </a:xfrm>
          <a:prstGeom prst="rect">
            <a:avLst/>
          </a:prstGeom>
        </p:spPr>
      </p:pic>
      <p:pic>
        <p:nvPicPr>
          <p:cNvPr id="11" name="Picture 10">
            <a:extLst>
              <a:ext uri="{FF2B5EF4-FFF2-40B4-BE49-F238E27FC236}">
                <a16:creationId xmlns:a16="http://schemas.microsoft.com/office/drawing/2014/main" id="{B7524552-8EFA-1732-ED3F-EACE91B7A79D}"/>
              </a:ext>
            </a:extLst>
          </p:cNvPr>
          <p:cNvPicPr>
            <a:picLocks noChangeAspect="1"/>
          </p:cNvPicPr>
          <p:nvPr/>
        </p:nvPicPr>
        <p:blipFill>
          <a:blip r:embed="rId5"/>
          <a:stretch>
            <a:fillRect/>
          </a:stretch>
        </p:blipFill>
        <p:spPr>
          <a:xfrm>
            <a:off x="8967020" y="2310360"/>
            <a:ext cx="9320980" cy="7976640"/>
          </a:xfrm>
          <a:prstGeom prst="rect">
            <a:avLst/>
          </a:prstGeom>
        </p:spPr>
      </p:pic>
      <p:sp>
        <p:nvSpPr>
          <p:cNvPr id="22" name="TextBox 21">
            <a:extLst>
              <a:ext uri="{FF2B5EF4-FFF2-40B4-BE49-F238E27FC236}">
                <a16:creationId xmlns:a16="http://schemas.microsoft.com/office/drawing/2014/main" id="{28B06379-24B4-FF7F-8726-9C7AB555A3AA}"/>
              </a:ext>
            </a:extLst>
          </p:cNvPr>
          <p:cNvSpPr txBox="1"/>
          <p:nvPr/>
        </p:nvSpPr>
        <p:spPr>
          <a:xfrm>
            <a:off x="8967019" y="1787140"/>
            <a:ext cx="5869860" cy="523220"/>
          </a:xfrm>
          <a:prstGeom prst="rect">
            <a:avLst/>
          </a:prstGeom>
          <a:noFill/>
        </p:spPr>
        <p:txBody>
          <a:bodyPr wrap="square" rtlCol="0">
            <a:spAutoFit/>
          </a:bodyPr>
          <a:lstStyle/>
          <a:p>
            <a:r>
              <a:rPr lang="en-IN" sz="2800" b="1" u="sng" dirty="0"/>
              <a:t>System Workflow Diagram</a:t>
            </a:r>
            <a:r>
              <a:rPr lang="en-IN" sz="2800" b="1" dirty="0"/>
              <a:t> :</a:t>
            </a:r>
          </a:p>
        </p:txBody>
      </p:sp>
    </p:spTree>
    <p:extLst>
      <p:ext uri="{BB962C8B-B14F-4D97-AF65-F5344CB8AC3E}">
        <p14:creationId xmlns:p14="http://schemas.microsoft.com/office/powerpoint/2010/main" val="3081149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B5C97E8-E2DA-951C-FDD4-C439DFB5E630}"/>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EC288E44-671E-FBB0-A61E-1DDA7A77340D}"/>
              </a:ext>
            </a:extLst>
          </p:cNvPr>
          <p:cNvSpPr txBox="1"/>
          <p:nvPr/>
        </p:nvSpPr>
        <p:spPr>
          <a:xfrm>
            <a:off x="398206" y="670103"/>
            <a:ext cx="17668568" cy="1378647"/>
          </a:xfrm>
          <a:prstGeom prst="rect">
            <a:avLst/>
          </a:prstGeom>
          <a:noFill/>
          <a:ln>
            <a:noFill/>
          </a:ln>
        </p:spPr>
        <p:txBody>
          <a:bodyPr spcFirstLastPara="1" wrap="square" lIns="0" tIns="0" rIns="0" bIns="0" anchor="t" anchorCtr="0">
            <a:spAutoFit/>
          </a:bodyPr>
          <a:lstStyle/>
          <a:p>
            <a:pPr lvl="0">
              <a:lnSpc>
                <a:spcPct val="140006"/>
              </a:lnSpc>
            </a:pPr>
            <a:r>
              <a:rPr lang="en-US" sz="6399" b="1" dirty="0">
                <a:solidFill>
                  <a:srgbClr val="4285F3"/>
                </a:solidFill>
              </a:rPr>
              <a:t>FEASIBILITY &amp; FUTURE SCOPE</a:t>
            </a:r>
            <a:endParaRPr lang="en-US" sz="6600" b="1" dirty="0"/>
          </a:p>
        </p:txBody>
      </p:sp>
      <p:sp>
        <p:nvSpPr>
          <p:cNvPr id="98" name="Google Shape;98;p2">
            <a:extLst>
              <a:ext uri="{FF2B5EF4-FFF2-40B4-BE49-F238E27FC236}">
                <a16:creationId xmlns:a16="http://schemas.microsoft.com/office/drawing/2014/main" id="{1D8BD3AE-CBAA-718C-E8B2-21BF5AA63996}"/>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2" name="TextBox 1">
            <a:extLst>
              <a:ext uri="{FF2B5EF4-FFF2-40B4-BE49-F238E27FC236}">
                <a16:creationId xmlns:a16="http://schemas.microsoft.com/office/drawing/2014/main" id="{B1376AB1-C253-70B0-B153-6566358CCC90}"/>
              </a:ext>
            </a:extLst>
          </p:cNvPr>
          <p:cNvSpPr txBox="1"/>
          <p:nvPr/>
        </p:nvSpPr>
        <p:spPr>
          <a:xfrm>
            <a:off x="376083" y="1886582"/>
            <a:ext cx="9490588" cy="3970318"/>
          </a:xfrm>
          <a:prstGeom prst="rect">
            <a:avLst/>
          </a:prstGeom>
          <a:noFill/>
        </p:spPr>
        <p:txBody>
          <a:bodyPr wrap="square" rtlCol="0">
            <a:spAutoFit/>
          </a:bodyPr>
          <a:lstStyle/>
          <a:p>
            <a:r>
              <a:rPr lang="en-IN" sz="2800" b="1" u="sng" dirty="0"/>
              <a:t>Technical Feasibility</a:t>
            </a:r>
            <a:r>
              <a:rPr lang="en-IN" sz="2800" b="1" dirty="0"/>
              <a:t> :</a:t>
            </a:r>
          </a:p>
          <a:p>
            <a:endParaRPr lang="en-IN" sz="2800" b="1" dirty="0"/>
          </a:p>
          <a:p>
            <a:r>
              <a:rPr lang="en-IN" sz="2800" b="1" dirty="0"/>
              <a:t>Current Implementation Status:</a:t>
            </a:r>
            <a:endParaRPr lang="en-IN" sz="2800" dirty="0"/>
          </a:p>
          <a:p>
            <a:pPr marL="457200" indent="-457200">
              <a:buFont typeface="Arial" panose="020B0604020202020204" pitchFamily="34" charset="0"/>
              <a:buChar char="•"/>
            </a:pPr>
            <a:r>
              <a:rPr lang="en-IN" sz="2800" dirty="0"/>
              <a:t>✅ Fully functional MVP with all core features</a:t>
            </a:r>
          </a:p>
          <a:p>
            <a:pPr marL="457200" indent="-457200">
              <a:buFont typeface="Arial" panose="020B0604020202020204" pitchFamily="34" charset="0"/>
              <a:buChar char="•"/>
            </a:pPr>
            <a:r>
              <a:rPr lang="en-IN" sz="2800" dirty="0"/>
              <a:t>✅ Tested with sample data (students, drives, applications)</a:t>
            </a:r>
          </a:p>
          <a:p>
            <a:pPr marL="457200" indent="-457200">
              <a:buFont typeface="Arial" panose="020B0604020202020204" pitchFamily="34" charset="0"/>
              <a:buChar char="•"/>
            </a:pPr>
            <a:r>
              <a:rPr lang="en-IN" sz="2800" dirty="0"/>
              <a:t>✅ Deployed on development environment</a:t>
            </a:r>
          </a:p>
          <a:p>
            <a:pPr marL="457200" indent="-457200">
              <a:buFont typeface="Arial" panose="020B0604020202020204" pitchFamily="34" charset="0"/>
              <a:buChar char="•"/>
            </a:pPr>
            <a:r>
              <a:rPr lang="en-IN" sz="2800" dirty="0"/>
              <a:t>✅ All Google integrations working (Auth, Firestore, Gemini)</a:t>
            </a:r>
          </a:p>
        </p:txBody>
      </p:sp>
      <p:sp>
        <p:nvSpPr>
          <p:cNvPr id="3" name="TextBox 2">
            <a:extLst>
              <a:ext uri="{FF2B5EF4-FFF2-40B4-BE49-F238E27FC236}">
                <a16:creationId xmlns:a16="http://schemas.microsoft.com/office/drawing/2014/main" id="{D032CD3A-605A-70AA-E3A1-90E21D31A1EA}"/>
              </a:ext>
            </a:extLst>
          </p:cNvPr>
          <p:cNvSpPr txBox="1"/>
          <p:nvPr/>
        </p:nvSpPr>
        <p:spPr>
          <a:xfrm>
            <a:off x="5978861" y="6367162"/>
            <a:ext cx="6330278" cy="2246769"/>
          </a:xfrm>
          <a:prstGeom prst="rect">
            <a:avLst/>
          </a:prstGeom>
          <a:noFill/>
        </p:spPr>
        <p:txBody>
          <a:bodyPr wrap="square" rtlCol="0">
            <a:spAutoFit/>
          </a:bodyPr>
          <a:lstStyle/>
          <a:p>
            <a:r>
              <a:rPr lang="en-IN" sz="2800" b="1" dirty="0"/>
              <a:t>Phase 3 (6-12 months):</a:t>
            </a:r>
            <a:endParaRPr lang="en-IN" sz="2800" dirty="0"/>
          </a:p>
          <a:p>
            <a:pPr marL="457200" indent="-457200">
              <a:buFont typeface="Arial" panose="020B0604020202020204" pitchFamily="34" charset="0"/>
              <a:buChar char="•"/>
            </a:pPr>
            <a:r>
              <a:rPr lang="en-IN" sz="2800" dirty="0"/>
              <a:t>🎥 Video interview scheduling</a:t>
            </a:r>
          </a:p>
          <a:p>
            <a:pPr marL="457200" indent="-457200">
              <a:buFont typeface="Arial" panose="020B0604020202020204" pitchFamily="34" charset="0"/>
              <a:buChar char="•"/>
            </a:pPr>
            <a:r>
              <a:rPr lang="en-IN" sz="2800" dirty="0"/>
              <a:t>📝 Online assessment integration</a:t>
            </a:r>
          </a:p>
          <a:p>
            <a:pPr marL="457200" indent="-457200">
              <a:buFont typeface="Arial" panose="020B0604020202020204" pitchFamily="34" charset="0"/>
              <a:buChar char="•"/>
            </a:pPr>
            <a:r>
              <a:rPr lang="en-IN" sz="2800" dirty="0"/>
              <a:t>🤝 Alumni network features</a:t>
            </a:r>
          </a:p>
          <a:p>
            <a:pPr marL="457200" indent="-457200">
              <a:buFont typeface="Arial" panose="020B0604020202020204" pitchFamily="34" charset="0"/>
              <a:buChar char="•"/>
            </a:pPr>
            <a:r>
              <a:rPr lang="en-IN" sz="2800" dirty="0"/>
              <a:t>📊 Predictive placement analytics</a:t>
            </a:r>
          </a:p>
        </p:txBody>
      </p:sp>
      <p:sp>
        <p:nvSpPr>
          <p:cNvPr id="4" name="TextBox 3">
            <a:extLst>
              <a:ext uri="{FF2B5EF4-FFF2-40B4-BE49-F238E27FC236}">
                <a16:creationId xmlns:a16="http://schemas.microsoft.com/office/drawing/2014/main" id="{52BFFC6B-C502-4BE7-1E11-C3EA0D893C03}"/>
              </a:ext>
            </a:extLst>
          </p:cNvPr>
          <p:cNvSpPr txBox="1"/>
          <p:nvPr/>
        </p:nvSpPr>
        <p:spPr>
          <a:xfrm>
            <a:off x="9763432" y="2613997"/>
            <a:ext cx="7794523" cy="2677656"/>
          </a:xfrm>
          <a:prstGeom prst="rect">
            <a:avLst/>
          </a:prstGeom>
          <a:noFill/>
        </p:spPr>
        <p:txBody>
          <a:bodyPr wrap="square" rtlCol="0">
            <a:spAutoFit/>
          </a:bodyPr>
          <a:lstStyle/>
          <a:p>
            <a:r>
              <a:rPr lang="en-IN" sz="2800" b="1" dirty="0"/>
              <a:t>Resource Requirements:</a:t>
            </a:r>
            <a:endParaRPr lang="en-IN" sz="2800" dirty="0"/>
          </a:p>
          <a:p>
            <a:pPr marL="457200" indent="-457200">
              <a:buFont typeface="Arial" panose="020B0604020202020204" pitchFamily="34" charset="0"/>
              <a:buChar char="•"/>
            </a:pPr>
            <a:r>
              <a:rPr lang="en-IN" sz="2800" dirty="0"/>
              <a:t>Firebase Spark Plan (Free) supports 50K reads/day</a:t>
            </a:r>
          </a:p>
          <a:p>
            <a:pPr marL="457200" indent="-457200">
              <a:buFont typeface="Arial" panose="020B0604020202020204" pitchFamily="34" charset="0"/>
              <a:buChar char="•"/>
            </a:pPr>
            <a:r>
              <a:rPr lang="en-IN" sz="2800" dirty="0"/>
              <a:t>Gemini API free tier provides 60 requests/minute</a:t>
            </a:r>
          </a:p>
          <a:p>
            <a:pPr marL="457200" indent="-457200">
              <a:buFont typeface="Arial" panose="020B0604020202020204" pitchFamily="34" charset="0"/>
              <a:buChar char="•"/>
            </a:pPr>
            <a:r>
              <a:rPr lang="en-IN" sz="2800" dirty="0" err="1"/>
              <a:t>Vercel</a:t>
            </a:r>
            <a:r>
              <a:rPr lang="en-IN" sz="2800" dirty="0"/>
              <a:t> free tier for hosting</a:t>
            </a:r>
          </a:p>
        </p:txBody>
      </p:sp>
      <p:sp>
        <p:nvSpPr>
          <p:cNvPr id="5" name="TextBox 4">
            <a:extLst>
              <a:ext uri="{FF2B5EF4-FFF2-40B4-BE49-F238E27FC236}">
                <a16:creationId xmlns:a16="http://schemas.microsoft.com/office/drawing/2014/main" id="{DB9CC7FB-7337-B7CF-302B-3E04CE069657}"/>
              </a:ext>
            </a:extLst>
          </p:cNvPr>
          <p:cNvSpPr txBox="1"/>
          <p:nvPr/>
        </p:nvSpPr>
        <p:spPr>
          <a:xfrm>
            <a:off x="12462386" y="6367162"/>
            <a:ext cx="5214783" cy="3539430"/>
          </a:xfrm>
          <a:prstGeom prst="rect">
            <a:avLst/>
          </a:prstGeom>
          <a:noFill/>
        </p:spPr>
        <p:txBody>
          <a:bodyPr wrap="square" rtlCol="0">
            <a:spAutoFit/>
          </a:bodyPr>
          <a:lstStyle/>
          <a:p>
            <a:r>
              <a:rPr lang="en-IN" sz="2800" b="1" dirty="0"/>
              <a:t>Phase 4 (12+ months):</a:t>
            </a:r>
            <a:endParaRPr lang="en-IN" sz="2800" dirty="0"/>
          </a:p>
          <a:p>
            <a:pPr marL="457200" indent="-457200">
              <a:buFont typeface="Arial" panose="020B0604020202020204" pitchFamily="34" charset="0"/>
              <a:buChar char="•"/>
            </a:pPr>
            <a:r>
              <a:rPr lang="en-IN" sz="2800" dirty="0"/>
              <a:t>🏢 Multi-institution support (SaaS model)</a:t>
            </a:r>
          </a:p>
          <a:p>
            <a:pPr marL="457200" indent="-457200">
              <a:buFont typeface="Arial" panose="020B0604020202020204" pitchFamily="34" charset="0"/>
              <a:buChar char="•"/>
            </a:pPr>
            <a:r>
              <a:rPr lang="en-IN" sz="2800" dirty="0"/>
              <a:t>🔗 LinkedIn integration</a:t>
            </a:r>
          </a:p>
          <a:p>
            <a:pPr marL="457200" indent="-457200">
              <a:buFont typeface="Arial" panose="020B0604020202020204" pitchFamily="34" charset="0"/>
              <a:buChar char="•"/>
            </a:pPr>
            <a:r>
              <a:rPr lang="en-IN" sz="2800" dirty="0"/>
              <a:t>💼 Direct company portal</a:t>
            </a:r>
          </a:p>
          <a:p>
            <a:pPr marL="457200" indent="-457200">
              <a:buFont typeface="Arial" panose="020B0604020202020204" pitchFamily="34" charset="0"/>
              <a:buChar char="•"/>
            </a:pPr>
            <a:r>
              <a:rPr lang="en-IN" sz="2800" dirty="0"/>
              <a:t>🌐 Nationwide placement network</a:t>
            </a:r>
          </a:p>
          <a:p>
            <a:endParaRPr lang="en-IN" sz="2800" b="1" dirty="0"/>
          </a:p>
        </p:txBody>
      </p:sp>
      <p:sp>
        <p:nvSpPr>
          <p:cNvPr id="6" name="TextBox 5">
            <a:extLst>
              <a:ext uri="{FF2B5EF4-FFF2-40B4-BE49-F238E27FC236}">
                <a16:creationId xmlns:a16="http://schemas.microsoft.com/office/drawing/2014/main" id="{25107F5D-C4F0-B6C5-6524-971B06794FD6}"/>
              </a:ext>
            </a:extLst>
          </p:cNvPr>
          <p:cNvSpPr txBox="1"/>
          <p:nvPr/>
        </p:nvSpPr>
        <p:spPr>
          <a:xfrm>
            <a:off x="398206" y="6367162"/>
            <a:ext cx="5922705" cy="2677656"/>
          </a:xfrm>
          <a:prstGeom prst="rect">
            <a:avLst/>
          </a:prstGeom>
          <a:noFill/>
        </p:spPr>
        <p:txBody>
          <a:bodyPr wrap="square" rtlCol="0">
            <a:spAutoFit/>
          </a:bodyPr>
          <a:lstStyle/>
          <a:p>
            <a:r>
              <a:rPr lang="en-IN" sz="2800" b="1" dirty="0"/>
              <a:t>Phase 2 (3-6 months):</a:t>
            </a:r>
            <a:endParaRPr lang="en-IN" sz="2800" dirty="0"/>
          </a:p>
          <a:p>
            <a:pPr marL="457200" indent="-457200">
              <a:buFont typeface="Arial" panose="020B0604020202020204" pitchFamily="34" charset="0"/>
              <a:buChar char="•"/>
            </a:pPr>
            <a:r>
              <a:rPr lang="en-IN" sz="2800" dirty="0"/>
              <a:t>📱 Mobile app (React Native)</a:t>
            </a:r>
          </a:p>
          <a:p>
            <a:pPr marL="457200" indent="-457200">
              <a:buFont typeface="Arial" panose="020B0604020202020204" pitchFamily="34" charset="0"/>
              <a:buChar char="•"/>
            </a:pPr>
            <a:r>
              <a:rPr lang="en-IN" sz="2800" dirty="0"/>
              <a:t>🔔 Push notifications</a:t>
            </a:r>
          </a:p>
          <a:p>
            <a:pPr marL="457200" indent="-457200">
              <a:buFont typeface="Arial" panose="020B0604020202020204" pitchFamily="34" charset="0"/>
              <a:buChar char="•"/>
            </a:pPr>
            <a:r>
              <a:rPr lang="en-IN" sz="2800" dirty="0"/>
              <a:t>📧 Email integration</a:t>
            </a:r>
          </a:p>
          <a:p>
            <a:pPr marL="457200" indent="-457200">
              <a:buFont typeface="Arial" panose="020B0604020202020204" pitchFamily="34" charset="0"/>
              <a:buChar char="•"/>
            </a:pPr>
            <a:r>
              <a:rPr lang="en-IN" sz="2800" dirty="0"/>
              <a:t>🤖 AI-based job recommendations</a:t>
            </a:r>
          </a:p>
        </p:txBody>
      </p:sp>
      <p:sp>
        <p:nvSpPr>
          <p:cNvPr id="7" name="TextBox 6">
            <a:extLst>
              <a:ext uri="{FF2B5EF4-FFF2-40B4-BE49-F238E27FC236}">
                <a16:creationId xmlns:a16="http://schemas.microsoft.com/office/drawing/2014/main" id="{72F34FB8-F5E1-F534-0796-FE932AE438D1}"/>
              </a:ext>
            </a:extLst>
          </p:cNvPr>
          <p:cNvSpPr txBox="1"/>
          <p:nvPr/>
        </p:nvSpPr>
        <p:spPr>
          <a:xfrm>
            <a:off x="398206" y="5843942"/>
            <a:ext cx="5238608" cy="523220"/>
          </a:xfrm>
          <a:prstGeom prst="rect">
            <a:avLst/>
          </a:prstGeom>
          <a:noFill/>
        </p:spPr>
        <p:txBody>
          <a:bodyPr wrap="square" rtlCol="0">
            <a:spAutoFit/>
          </a:bodyPr>
          <a:lstStyle/>
          <a:p>
            <a:r>
              <a:rPr lang="en-IN" sz="2800" b="1" u="sng" dirty="0"/>
              <a:t>Future Scope</a:t>
            </a:r>
            <a:r>
              <a:rPr lang="en-IN" sz="2800" b="1" dirty="0"/>
              <a:t> :</a:t>
            </a:r>
          </a:p>
        </p:txBody>
      </p:sp>
    </p:spTree>
    <p:extLst>
      <p:ext uri="{BB962C8B-B14F-4D97-AF65-F5344CB8AC3E}">
        <p14:creationId xmlns:p14="http://schemas.microsoft.com/office/powerpoint/2010/main" val="14005973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C5F5F49-E449-47FA-7E00-1BF4FE569444}"/>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CDDA41A6-9383-EFA8-EC09-D0703966A2E7}"/>
              </a:ext>
            </a:extLst>
          </p:cNvPr>
          <p:cNvSpPr txBox="1"/>
          <p:nvPr/>
        </p:nvSpPr>
        <p:spPr>
          <a:xfrm>
            <a:off x="398206" y="670103"/>
            <a:ext cx="17668568" cy="1378647"/>
          </a:xfrm>
          <a:prstGeom prst="rect">
            <a:avLst/>
          </a:prstGeom>
          <a:noFill/>
          <a:ln>
            <a:noFill/>
          </a:ln>
        </p:spPr>
        <p:txBody>
          <a:bodyPr spcFirstLastPara="1" wrap="square" lIns="0" tIns="0" rIns="0" bIns="0" anchor="t" anchorCtr="0">
            <a:spAutoFit/>
          </a:bodyPr>
          <a:lstStyle/>
          <a:p>
            <a:pPr lvl="0">
              <a:lnSpc>
                <a:spcPct val="140006"/>
              </a:lnSpc>
            </a:pPr>
            <a:r>
              <a:rPr lang="en-US" sz="6399" b="1" dirty="0">
                <a:solidFill>
                  <a:srgbClr val="4285F3"/>
                </a:solidFill>
              </a:rPr>
              <a:t>MVP &amp; DEMO DETAILS</a:t>
            </a:r>
            <a:endParaRPr lang="en-US" sz="6600" b="1" dirty="0"/>
          </a:p>
        </p:txBody>
      </p:sp>
      <p:sp>
        <p:nvSpPr>
          <p:cNvPr id="98" name="Google Shape;98;p2">
            <a:extLst>
              <a:ext uri="{FF2B5EF4-FFF2-40B4-BE49-F238E27FC236}">
                <a16:creationId xmlns:a16="http://schemas.microsoft.com/office/drawing/2014/main" id="{3D15626E-28F7-8D67-1380-15D5E9A31CA0}"/>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8" name="Google Shape;167;g3a5ec7815fb_0_15">
            <a:extLst>
              <a:ext uri="{FF2B5EF4-FFF2-40B4-BE49-F238E27FC236}">
                <a16:creationId xmlns:a16="http://schemas.microsoft.com/office/drawing/2014/main" id="{E3306468-0E63-ADE7-0667-2E85EB650DAB}"/>
              </a:ext>
            </a:extLst>
          </p:cNvPr>
          <p:cNvSpPr txBox="1"/>
          <p:nvPr/>
        </p:nvSpPr>
        <p:spPr>
          <a:xfrm>
            <a:off x="398206" y="1917290"/>
            <a:ext cx="13308494" cy="264684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3200" b="1" dirty="0">
                <a:solidFill>
                  <a:schemeClr val="dk1"/>
                </a:solidFill>
              </a:rPr>
              <a:t>MVP Link:</a:t>
            </a:r>
            <a:r>
              <a:rPr lang="en-US" sz="3200" dirty="0">
                <a:solidFill>
                  <a:schemeClr val="dk1"/>
                </a:solidFill>
              </a:rPr>
              <a:t> </a:t>
            </a:r>
            <a:br>
              <a:rPr lang="en-US" sz="3200" dirty="0">
                <a:solidFill>
                  <a:schemeClr val="dk1"/>
                </a:solidFill>
              </a:rPr>
            </a:br>
            <a:endParaRPr sz="3200" dirty="0">
              <a:solidFill>
                <a:schemeClr val="dk1"/>
              </a:solidFill>
            </a:endParaRPr>
          </a:p>
          <a:p>
            <a:pPr marL="0" lvl="0" indent="0" algn="l" rtl="0">
              <a:spcBef>
                <a:spcPts val="0"/>
              </a:spcBef>
              <a:spcAft>
                <a:spcPts val="0"/>
              </a:spcAft>
              <a:buNone/>
            </a:pPr>
            <a:r>
              <a:rPr lang="en-US" sz="3200" b="1" dirty="0">
                <a:solidFill>
                  <a:schemeClr val="dk1"/>
                </a:solidFill>
              </a:rPr>
              <a:t>GitHub Repository Link:</a:t>
            </a:r>
            <a:br>
              <a:rPr lang="en-US" sz="3200" dirty="0">
                <a:solidFill>
                  <a:schemeClr val="dk1"/>
                </a:solidFill>
              </a:rPr>
            </a:br>
            <a:endParaRPr sz="3200" dirty="0">
              <a:solidFill>
                <a:schemeClr val="dk1"/>
              </a:solidFill>
            </a:endParaRPr>
          </a:p>
          <a:p>
            <a:pPr marL="0" lvl="0" indent="0" algn="l" rtl="0">
              <a:spcBef>
                <a:spcPts val="0"/>
              </a:spcBef>
              <a:spcAft>
                <a:spcPts val="0"/>
              </a:spcAft>
              <a:buNone/>
            </a:pPr>
            <a:r>
              <a:rPr lang="en-US" sz="3200" b="1" dirty="0">
                <a:solidFill>
                  <a:schemeClr val="dk1"/>
                </a:solidFill>
              </a:rPr>
              <a:t>3-Minute Demo Video Link:</a:t>
            </a:r>
            <a:endParaRPr sz="3200" dirty="0">
              <a:solidFill>
                <a:schemeClr val="dk1"/>
              </a:solidFill>
            </a:endParaRPr>
          </a:p>
        </p:txBody>
      </p:sp>
      <p:sp>
        <p:nvSpPr>
          <p:cNvPr id="11" name="TextBox 10">
            <a:extLst>
              <a:ext uri="{FF2B5EF4-FFF2-40B4-BE49-F238E27FC236}">
                <a16:creationId xmlns:a16="http://schemas.microsoft.com/office/drawing/2014/main" id="{BA6E5382-2D03-15C4-BC63-AD414C932650}"/>
              </a:ext>
            </a:extLst>
          </p:cNvPr>
          <p:cNvSpPr txBox="1"/>
          <p:nvPr/>
        </p:nvSpPr>
        <p:spPr>
          <a:xfrm>
            <a:off x="5225370" y="2979104"/>
            <a:ext cx="9065815" cy="523220"/>
          </a:xfrm>
          <a:prstGeom prst="rect">
            <a:avLst/>
          </a:prstGeom>
          <a:noFill/>
        </p:spPr>
        <p:txBody>
          <a:bodyPr wrap="square" rtlCol="0">
            <a:spAutoFit/>
          </a:bodyPr>
          <a:lstStyle/>
          <a:p>
            <a:r>
              <a:rPr lang="en-IN" sz="2800" dirty="0"/>
              <a:t>https://github.com/ARPANPATRA111/Glitch_The_Grid</a:t>
            </a:r>
          </a:p>
        </p:txBody>
      </p:sp>
      <p:sp>
        <p:nvSpPr>
          <p:cNvPr id="13" name="TextBox 12">
            <a:extLst>
              <a:ext uri="{FF2B5EF4-FFF2-40B4-BE49-F238E27FC236}">
                <a16:creationId xmlns:a16="http://schemas.microsoft.com/office/drawing/2014/main" id="{28E6DCA8-A0CA-17E4-58DD-4AD6CEE7EF8D}"/>
              </a:ext>
            </a:extLst>
          </p:cNvPr>
          <p:cNvSpPr txBox="1"/>
          <p:nvPr/>
        </p:nvSpPr>
        <p:spPr>
          <a:xfrm>
            <a:off x="2519545" y="1990707"/>
            <a:ext cx="9065815" cy="523220"/>
          </a:xfrm>
          <a:prstGeom prst="rect">
            <a:avLst/>
          </a:prstGeom>
          <a:noFill/>
        </p:spPr>
        <p:txBody>
          <a:bodyPr wrap="square" rtlCol="0">
            <a:spAutoFit/>
          </a:bodyPr>
          <a:lstStyle/>
          <a:p>
            <a:r>
              <a:rPr lang="en-IN" sz="2800" dirty="0"/>
              <a:t>https://glitch-the-grid.vercel.app/</a:t>
            </a:r>
          </a:p>
        </p:txBody>
      </p:sp>
      <p:sp>
        <p:nvSpPr>
          <p:cNvPr id="2" name="TextBox 1">
            <a:extLst>
              <a:ext uri="{FF2B5EF4-FFF2-40B4-BE49-F238E27FC236}">
                <a16:creationId xmlns:a16="http://schemas.microsoft.com/office/drawing/2014/main" id="{8C54BFA0-65CA-F327-FD34-E4A007FACEE0}"/>
              </a:ext>
            </a:extLst>
          </p:cNvPr>
          <p:cNvSpPr txBox="1"/>
          <p:nvPr/>
        </p:nvSpPr>
        <p:spPr>
          <a:xfrm>
            <a:off x="5761228" y="3909458"/>
            <a:ext cx="9065815" cy="523220"/>
          </a:xfrm>
          <a:prstGeom prst="rect">
            <a:avLst/>
          </a:prstGeom>
          <a:noFill/>
        </p:spPr>
        <p:txBody>
          <a:bodyPr wrap="square" rtlCol="0">
            <a:spAutoFit/>
          </a:bodyPr>
          <a:lstStyle/>
          <a:p>
            <a:r>
              <a:rPr lang="en-IN" sz="2800" dirty="0"/>
              <a:t>https://youtu.be/o6jZ8qzXbgI</a:t>
            </a:r>
          </a:p>
        </p:txBody>
      </p:sp>
    </p:spTree>
    <p:extLst>
      <p:ext uri="{BB962C8B-B14F-4D97-AF65-F5344CB8AC3E}">
        <p14:creationId xmlns:p14="http://schemas.microsoft.com/office/powerpoint/2010/main" val="3767514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84FB72E-AE47-1F1E-11AD-952DEC984993}"/>
            </a:ext>
          </a:extLst>
        </p:cNvPr>
        <p:cNvGrpSpPr/>
        <p:nvPr/>
      </p:nvGrpSpPr>
      <p:grpSpPr>
        <a:xfrm>
          <a:off x="0" y="0"/>
          <a:ext cx="0" cy="0"/>
          <a:chOff x="0" y="0"/>
          <a:chExt cx="0" cy="0"/>
        </a:xfrm>
      </p:grpSpPr>
      <p:sp>
        <p:nvSpPr>
          <p:cNvPr id="97" name="Google Shape;97;p2">
            <a:extLst>
              <a:ext uri="{FF2B5EF4-FFF2-40B4-BE49-F238E27FC236}">
                <a16:creationId xmlns:a16="http://schemas.microsoft.com/office/drawing/2014/main" id="{18C5D784-5C78-A740-36EB-76588AB45444}"/>
              </a:ext>
            </a:extLst>
          </p:cNvPr>
          <p:cNvSpPr txBox="1"/>
          <p:nvPr/>
        </p:nvSpPr>
        <p:spPr>
          <a:xfrm>
            <a:off x="398206" y="670103"/>
            <a:ext cx="17668568" cy="1378647"/>
          </a:xfrm>
          <a:prstGeom prst="rect">
            <a:avLst/>
          </a:prstGeom>
          <a:noFill/>
          <a:ln>
            <a:noFill/>
          </a:ln>
        </p:spPr>
        <p:txBody>
          <a:bodyPr spcFirstLastPara="1" wrap="square" lIns="0" tIns="0" rIns="0" bIns="0" anchor="t" anchorCtr="0">
            <a:spAutoFit/>
          </a:bodyPr>
          <a:lstStyle/>
          <a:p>
            <a:pPr lvl="0">
              <a:lnSpc>
                <a:spcPct val="140006"/>
              </a:lnSpc>
            </a:pPr>
            <a:r>
              <a:rPr lang="en-US" sz="6399" b="1" dirty="0">
                <a:solidFill>
                  <a:srgbClr val="4285F3"/>
                </a:solidFill>
              </a:rPr>
              <a:t>RESEARCH &amp; REFERENCES</a:t>
            </a:r>
            <a:endParaRPr lang="en-US" sz="6600" b="1" dirty="0"/>
          </a:p>
        </p:txBody>
      </p:sp>
      <p:sp>
        <p:nvSpPr>
          <p:cNvPr id="98" name="Google Shape;98;p2">
            <a:extLst>
              <a:ext uri="{FF2B5EF4-FFF2-40B4-BE49-F238E27FC236}">
                <a16:creationId xmlns:a16="http://schemas.microsoft.com/office/drawing/2014/main" id="{833A44C7-0E39-2129-33D0-4B37DF52D552}"/>
              </a:ext>
            </a:extLst>
          </p:cNvPr>
          <p:cNvSpPr/>
          <p:nvPr/>
        </p:nvSpPr>
        <p:spPr>
          <a:xfrm>
            <a:off x="0" y="0"/>
            <a:ext cx="4959901" cy="830799"/>
          </a:xfrm>
          <a:custGeom>
            <a:avLst/>
            <a:gdLst/>
            <a:ahLst/>
            <a:cxnLst/>
            <a:rect l="l" t="t" r="r" b="b"/>
            <a:pathLst>
              <a:path w="4959901" h="830799" extrusionOk="0">
                <a:moveTo>
                  <a:pt x="0" y="0"/>
                </a:moveTo>
                <a:lnTo>
                  <a:pt x="4959901" y="0"/>
                </a:lnTo>
                <a:lnTo>
                  <a:pt x="4959901" y="830799"/>
                </a:lnTo>
                <a:lnTo>
                  <a:pt x="0" y="830799"/>
                </a:lnTo>
                <a:lnTo>
                  <a:pt x="0" y="0"/>
                </a:lnTo>
                <a:close/>
              </a:path>
            </a:pathLst>
          </a:custGeom>
          <a:blipFill rotWithShape="1">
            <a:blip r:embed="rId3">
              <a:alphaModFix/>
            </a:blip>
            <a:stretch>
              <a:fillRect r="-4160" b="-26313"/>
            </a:stretch>
          </a:blipFill>
          <a:ln>
            <a:noFill/>
          </a:ln>
        </p:spPr>
      </p:sp>
      <p:sp>
        <p:nvSpPr>
          <p:cNvPr id="2" name="TextBox 1">
            <a:extLst>
              <a:ext uri="{FF2B5EF4-FFF2-40B4-BE49-F238E27FC236}">
                <a16:creationId xmlns:a16="http://schemas.microsoft.com/office/drawing/2014/main" id="{30D16AAD-C6C9-999D-7FBC-CB1FC8043A24}"/>
              </a:ext>
            </a:extLst>
          </p:cNvPr>
          <p:cNvSpPr txBox="1"/>
          <p:nvPr/>
        </p:nvSpPr>
        <p:spPr>
          <a:xfrm>
            <a:off x="376083" y="1886582"/>
            <a:ext cx="17668568" cy="7232749"/>
          </a:xfrm>
          <a:prstGeom prst="rect">
            <a:avLst/>
          </a:prstGeom>
          <a:noFill/>
        </p:spPr>
        <p:txBody>
          <a:bodyPr wrap="square" rtlCol="0">
            <a:spAutoFit/>
          </a:bodyPr>
          <a:lstStyle/>
          <a:p>
            <a:r>
              <a:rPr lang="en-IN" sz="2800" b="1" u="sng" dirty="0"/>
              <a:t>Official Documentation</a:t>
            </a:r>
            <a:r>
              <a:rPr lang="en-IN" sz="2800" b="1" dirty="0"/>
              <a:t> :</a:t>
            </a:r>
          </a:p>
          <a:p>
            <a:pPr marL="342900" indent="-342900">
              <a:buFont typeface="Arial" panose="020B0604020202020204" pitchFamily="34" charset="0"/>
              <a:buChar char="•"/>
            </a:pPr>
            <a:r>
              <a:rPr lang="en-IN" sz="2000" b="1" dirty="0"/>
              <a:t>Next.js Official Documentation</a:t>
            </a:r>
            <a:r>
              <a:rPr lang="en-IN" sz="2000" dirty="0"/>
              <a:t> </a:t>
            </a:r>
            <a:r>
              <a:rPr lang="en-IN" sz="2000" dirty="0">
                <a:hlinkClick r:id="rId4"/>
              </a:rPr>
              <a:t>https://nextjs.org/docs</a:t>
            </a:r>
            <a:r>
              <a:rPr lang="en-IN" sz="2000" dirty="0"/>
              <a:t> </a:t>
            </a:r>
          </a:p>
          <a:p>
            <a:pPr marL="342900" indent="-342900">
              <a:buFont typeface="Arial" panose="020B0604020202020204" pitchFamily="34" charset="0"/>
              <a:buChar char="•"/>
            </a:pPr>
            <a:r>
              <a:rPr lang="en-IN" sz="2000" b="1" dirty="0"/>
              <a:t>Next.js 16 Release Blog</a:t>
            </a:r>
            <a:r>
              <a:rPr lang="en-IN" sz="2000" dirty="0"/>
              <a:t> </a:t>
            </a:r>
            <a:r>
              <a:rPr lang="en-IN" sz="2000" dirty="0">
                <a:hlinkClick r:id="rId5"/>
              </a:rPr>
              <a:t>https://nextjs.org/blog/next-16</a:t>
            </a:r>
            <a:endParaRPr lang="en-IN" sz="2000" dirty="0"/>
          </a:p>
          <a:p>
            <a:pPr marL="342900" indent="-342900">
              <a:buFont typeface="Arial" panose="020B0604020202020204" pitchFamily="34" charset="0"/>
              <a:buChar char="•"/>
            </a:pPr>
            <a:r>
              <a:rPr lang="en-IN" sz="2000" b="1" dirty="0"/>
              <a:t>Firebase Official Documentation</a:t>
            </a:r>
            <a:r>
              <a:rPr lang="en-IN" sz="2000" dirty="0"/>
              <a:t> </a:t>
            </a:r>
            <a:r>
              <a:rPr lang="en-IN" sz="2000" dirty="0">
                <a:hlinkClick r:id="rId6"/>
              </a:rPr>
              <a:t>https://firebase.google.com/docs</a:t>
            </a:r>
            <a:r>
              <a:rPr lang="en-IN" sz="2000" dirty="0"/>
              <a:t> </a:t>
            </a:r>
          </a:p>
          <a:p>
            <a:pPr marL="342900" indent="-342900">
              <a:buFont typeface="Arial" panose="020B0604020202020204" pitchFamily="34" charset="0"/>
              <a:buChar char="•"/>
            </a:pPr>
            <a:r>
              <a:rPr lang="en-IN" sz="2000" b="1" dirty="0"/>
              <a:t>Google Gemini API Documentation</a:t>
            </a:r>
            <a:r>
              <a:rPr lang="en-IN" sz="2000" dirty="0"/>
              <a:t> </a:t>
            </a:r>
            <a:r>
              <a:rPr lang="en-IN" sz="2000" dirty="0">
                <a:hlinkClick r:id="rId7"/>
              </a:rPr>
              <a:t>https://ai.google.dev/gemini-api/docs</a:t>
            </a:r>
            <a:br>
              <a:rPr lang="en-IN" sz="2000" dirty="0"/>
            </a:br>
            <a:endParaRPr lang="en-IN" sz="2000" dirty="0"/>
          </a:p>
          <a:p>
            <a:r>
              <a:rPr lang="en-IN" sz="2800" b="1" u="sng" dirty="0"/>
              <a:t>Articles, Blogs &amp; Tutorials Referred</a:t>
            </a:r>
            <a:r>
              <a:rPr lang="en-IN" sz="2800" b="1" dirty="0"/>
              <a:t> :</a:t>
            </a:r>
          </a:p>
          <a:p>
            <a:pPr marL="342900" indent="-342900">
              <a:buFont typeface="Arial" panose="020B0604020202020204" pitchFamily="34" charset="0"/>
              <a:buChar char="•"/>
            </a:pPr>
            <a:r>
              <a:rPr lang="en-IN" sz="2000" b="1" dirty="0"/>
              <a:t>"How to Build a Full Stack App with Next.js 13 and Firebase</a:t>
            </a:r>
            <a:r>
              <a:rPr lang="en-IN" sz="2000" dirty="0"/>
              <a:t>"  </a:t>
            </a:r>
            <a:r>
              <a:rPr lang="en-IN" sz="2000" dirty="0">
                <a:hlinkClick r:id="rId8"/>
              </a:rPr>
              <a:t>https://www.freecodecamp.org/news/create-full-stack-app-with-nextjs13-and-firebase/</a:t>
            </a:r>
            <a:endParaRPr lang="en-IN" sz="2000" dirty="0"/>
          </a:p>
          <a:p>
            <a:pPr marL="342900" indent="-342900">
              <a:buFont typeface="Arial" panose="020B0604020202020204" pitchFamily="34" charset="0"/>
              <a:buChar char="•"/>
            </a:pPr>
            <a:r>
              <a:rPr lang="en-IN" sz="2000" b="1" dirty="0"/>
              <a:t>"Next.js and Firebase DB full-stack app tutorial</a:t>
            </a:r>
            <a:r>
              <a:rPr lang="en-IN" sz="2000" b="1" dirty="0">
                <a:hlinkClick r:id="rId9"/>
              </a:rPr>
              <a:t>“</a:t>
            </a:r>
            <a:r>
              <a:rPr lang="en-IN" sz="2000" b="1" dirty="0"/>
              <a:t> </a:t>
            </a:r>
            <a:r>
              <a:rPr lang="en-IN" sz="2000" dirty="0">
                <a:hlinkClick r:id="rId9"/>
              </a:rPr>
              <a:t>https://blog.logrocket.com/nextjs-cloud-firestore-full-stack-app-tutorial/</a:t>
            </a:r>
            <a:endParaRPr lang="en-IN" sz="2000" dirty="0"/>
          </a:p>
          <a:p>
            <a:pPr marL="342900" indent="-342900">
              <a:buFont typeface="Arial" panose="020B0604020202020204" pitchFamily="34" charset="0"/>
              <a:buChar char="•"/>
            </a:pPr>
            <a:r>
              <a:rPr lang="en-IN" sz="2000" b="1" dirty="0"/>
              <a:t>"Integrate Firebase with a Next.js app"</a:t>
            </a:r>
            <a:r>
              <a:rPr lang="en-IN" sz="2000" dirty="0"/>
              <a:t> </a:t>
            </a:r>
            <a:r>
              <a:rPr lang="en-IN" sz="2000" dirty="0">
                <a:hlinkClick r:id="rId10"/>
              </a:rPr>
              <a:t>https://firebase.google.com/codelabs/firebase-nextjs</a:t>
            </a:r>
            <a:endParaRPr lang="en-IN" sz="2000" dirty="0"/>
          </a:p>
          <a:p>
            <a:pPr marL="342900" indent="-342900">
              <a:buFont typeface="Arial" panose="020B0604020202020204" pitchFamily="34" charset="0"/>
              <a:buChar char="•"/>
            </a:pPr>
            <a:r>
              <a:rPr lang="en-IN" sz="2000" b="1" dirty="0"/>
              <a:t>"Gemini AI with Next.js 15: A Comprehensive Guide"</a:t>
            </a:r>
            <a:r>
              <a:rPr lang="en-IN" sz="2000" dirty="0"/>
              <a:t> </a:t>
            </a:r>
            <a:r>
              <a:rPr lang="en-IN" sz="2000" dirty="0">
                <a:hlinkClick r:id="rId11"/>
              </a:rPr>
              <a:t>https://dev.to/shubhamtiwari909/gemini-ai-next-js-15-tailwind-1247</a:t>
            </a:r>
            <a:endParaRPr lang="en-IN" sz="2000" dirty="0"/>
          </a:p>
          <a:p>
            <a:pPr marL="342900" indent="-342900">
              <a:buFont typeface="Arial" panose="020B0604020202020204" pitchFamily="34" charset="0"/>
              <a:buChar char="•"/>
            </a:pPr>
            <a:r>
              <a:rPr lang="en-IN" sz="2000" b="1" dirty="0"/>
              <a:t>"How to use Gemini API (Next.js Tutorial)"</a:t>
            </a:r>
            <a:r>
              <a:rPr lang="en-IN" sz="2000" dirty="0"/>
              <a:t> </a:t>
            </a:r>
            <a:r>
              <a:rPr lang="en-IN" sz="2000" dirty="0">
                <a:hlinkClick r:id="rId12"/>
              </a:rPr>
              <a:t>https://avionmission.com/blog/gemini-api-tutorial/</a:t>
            </a:r>
            <a:endParaRPr lang="en-IN" sz="2000" dirty="0"/>
          </a:p>
          <a:p>
            <a:r>
              <a:rPr lang="en-IN" sz="2000" b="1" dirty="0"/>
              <a:t>"Build an AI UI Generator with Gemini API, Next.js”</a:t>
            </a:r>
            <a:r>
              <a:rPr lang="en-IN" sz="2000" dirty="0"/>
              <a:t> </a:t>
            </a:r>
            <a:r>
              <a:rPr lang="en-IN" sz="2000" dirty="0">
                <a:hlinkClick r:id="rId13"/>
              </a:rPr>
              <a:t>https://avionmission.com/blog/gemini-nextjs-generative-ui-tutorial/</a:t>
            </a:r>
            <a:br>
              <a:rPr lang="en-IN" sz="2000" dirty="0"/>
            </a:br>
            <a:br>
              <a:rPr lang="en-IN" sz="2000" dirty="0"/>
            </a:br>
            <a:br>
              <a:rPr lang="en-IN" sz="2000" dirty="0"/>
            </a:br>
            <a:r>
              <a:rPr lang="en-IN" sz="2800" b="1" u="sng" dirty="0"/>
              <a:t>Case Studies &amp; Inspiration Sources</a:t>
            </a:r>
            <a:r>
              <a:rPr lang="en-IN" sz="2800" b="1" dirty="0"/>
              <a:t> :</a:t>
            </a:r>
          </a:p>
          <a:p>
            <a:pPr marL="342900" indent="-342900">
              <a:buFont typeface="Arial" panose="020B0604020202020204" pitchFamily="34" charset="0"/>
              <a:buChar char="•"/>
            </a:pPr>
            <a:r>
              <a:rPr lang="en-IN" sz="2000" b="1" dirty="0"/>
              <a:t>Fireship.io Next.js + Firebase Full Course</a:t>
            </a:r>
            <a:r>
              <a:rPr lang="en-IN" sz="2000" dirty="0"/>
              <a:t> (Social blogging platform demo) </a:t>
            </a:r>
            <a:r>
              <a:rPr lang="en-IN" sz="2000" dirty="0">
                <a:hlinkClick r:id="rId14"/>
              </a:rPr>
              <a:t>https://fireship.io/courses/react-next-firebase/</a:t>
            </a:r>
            <a:endParaRPr lang="en-IN" sz="2000" dirty="0"/>
          </a:p>
          <a:p>
            <a:pPr marL="342900" indent="-342900">
              <a:buFont typeface="Wingdings" panose="05000000000000000000" pitchFamily="2" charset="2"/>
              <a:buChar char="q"/>
            </a:pPr>
            <a:r>
              <a:rPr lang="en-IN" sz="2000" b="1" dirty="0"/>
              <a:t>GitHub Projects for Inspiration:</a:t>
            </a:r>
            <a:endParaRPr lang="en-IN" sz="2000" dirty="0"/>
          </a:p>
          <a:p>
            <a:pPr marL="457200" lvl="7" indent="-457200">
              <a:buFont typeface="+mj-lt"/>
              <a:buAutoNum type="arabicParenR"/>
            </a:pPr>
            <a:r>
              <a:rPr lang="en-IN" sz="2000" dirty="0"/>
              <a:t>Next.js + Firebase Starter Templates </a:t>
            </a:r>
            <a:r>
              <a:rPr lang="en-IN" sz="2000" dirty="0">
                <a:hlinkClick r:id="rId15"/>
              </a:rPr>
              <a:t>https://github.com/milliorn/nextjs-firebase-starter</a:t>
            </a:r>
            <a:endParaRPr lang="en-IN" sz="2000" dirty="0"/>
          </a:p>
          <a:p>
            <a:pPr marL="457200" lvl="7" indent="-457200">
              <a:buFont typeface="+mj-lt"/>
              <a:buAutoNum type="arabicParenR"/>
            </a:pPr>
            <a:r>
              <a:rPr lang="en-IN" sz="2000" dirty="0"/>
              <a:t>College/Student Portal Examples </a:t>
            </a:r>
            <a:r>
              <a:rPr lang="en-IN" sz="2000" dirty="0">
                <a:hlinkClick r:id="rId16"/>
              </a:rPr>
              <a:t>https://github.com/Sahil-Sayyad/Placement_Portal</a:t>
            </a:r>
            <a:r>
              <a:rPr lang="en-IN" sz="2000" dirty="0"/>
              <a:t> </a:t>
            </a:r>
          </a:p>
          <a:p>
            <a:pPr marL="457200" lvl="7" indent="-457200">
              <a:buFont typeface="+mj-lt"/>
              <a:buAutoNum type="arabicParenR"/>
            </a:pPr>
            <a:r>
              <a:rPr lang="en-IN" sz="2000" dirty="0"/>
              <a:t>Placement Cell Applications </a:t>
            </a:r>
            <a:r>
              <a:rPr lang="en-IN" sz="2000" dirty="0">
                <a:hlinkClick r:id="rId17"/>
              </a:rPr>
              <a:t>https://github.com/Ayush-Kanduri/Placement-Cell-Application</a:t>
            </a:r>
            <a:br>
              <a:rPr lang="en-IN" sz="2000" dirty="0"/>
            </a:br>
            <a:endParaRPr lang="en-IN" sz="2000" dirty="0"/>
          </a:p>
        </p:txBody>
      </p:sp>
    </p:spTree>
    <p:extLst>
      <p:ext uri="{BB962C8B-B14F-4D97-AF65-F5344CB8AC3E}">
        <p14:creationId xmlns:p14="http://schemas.microsoft.com/office/powerpoint/2010/main" val="307290452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513</TotalTime>
  <Words>1578</Words>
  <Application>Microsoft Office PowerPoint</Application>
  <PresentationFormat>Custom</PresentationFormat>
  <Paragraphs>196</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Wingdings</vt:lpstr>
      <vt:lpstr>Roboto</vt:lpstr>
      <vt:lpstr>Calibri</vt:lpstr>
      <vt:lpstr>Arial</vt:lpstr>
      <vt:lpstr>Lucida Console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Arpan Patra</cp:lastModifiedBy>
  <cp:revision>6</cp:revision>
  <dcterms:created xsi:type="dcterms:W3CDTF">2006-08-16T00:00:00Z</dcterms:created>
  <dcterms:modified xsi:type="dcterms:W3CDTF">2025-12-29T19:55:53Z</dcterms:modified>
</cp:coreProperties>
</file>